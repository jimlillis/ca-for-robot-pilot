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3" r:id="rId1"/>
  </p:sldMasterIdLst>
  <p:notesMasterIdLst>
    <p:notesMasterId r:id="rId19"/>
  </p:notesMasterIdLst>
  <p:sldIdLst>
    <p:sldId id="256" r:id="rId2"/>
    <p:sldId id="257" r:id="rId3"/>
    <p:sldId id="271" r:id="rId4"/>
    <p:sldId id="258" r:id="rId5"/>
    <p:sldId id="273" r:id="rId6"/>
    <p:sldId id="275" r:id="rId7"/>
    <p:sldId id="272" r:id="rId8"/>
    <p:sldId id="259" r:id="rId9"/>
    <p:sldId id="277" r:id="rId10"/>
    <p:sldId id="260" r:id="rId11"/>
    <p:sldId id="281" r:id="rId12"/>
    <p:sldId id="278" r:id="rId13"/>
    <p:sldId id="282" r:id="rId14"/>
    <p:sldId id="283" r:id="rId15"/>
    <p:sldId id="284" r:id="rId16"/>
    <p:sldId id="279" r:id="rId17"/>
    <p:sldId id="285" r:id="rId18"/>
  </p:sldIdLst>
  <p:sldSz cx="12192000" cy="6858000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Φωτεινό στυλ 1 - Έμφαση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4660"/>
  </p:normalViewPr>
  <p:slideViewPr>
    <p:cSldViewPr snapToGrid="0">
      <p:cViewPr varScale="1">
        <p:scale>
          <a:sx n="78" d="100"/>
          <a:sy n="78" d="100"/>
        </p:scale>
        <p:origin x="71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D4B0B63-887D-45E6-A4D2-F88C56553173}" type="doc">
      <dgm:prSet loTypeId="urn:microsoft.com/office/officeart/2005/8/layout/process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l-GR"/>
        </a:p>
      </dgm:t>
    </dgm:pt>
    <dgm:pt modelId="{4D8EB9C0-A340-4B2F-91A1-A71ABD5871F1}">
      <dgm:prSet/>
      <dgm:spPr/>
      <dgm:t>
        <a:bodyPr/>
        <a:lstStyle/>
        <a:p>
          <a:r>
            <a:rPr lang="el-GR" dirty="0"/>
            <a:t>Πράκτορας</a:t>
          </a:r>
        </a:p>
      </dgm:t>
    </dgm:pt>
    <dgm:pt modelId="{6EA59717-ECDD-4709-8435-AA147C644ADD}" type="parTrans" cxnId="{B0CA2793-A4B4-482C-BCB5-78A8E9DA32B5}">
      <dgm:prSet/>
      <dgm:spPr/>
      <dgm:t>
        <a:bodyPr/>
        <a:lstStyle/>
        <a:p>
          <a:endParaRPr lang="el-GR"/>
        </a:p>
      </dgm:t>
    </dgm:pt>
    <dgm:pt modelId="{326D2B12-03E0-48B5-B2D8-945C24BA3364}" type="sibTrans" cxnId="{B0CA2793-A4B4-482C-BCB5-78A8E9DA32B5}">
      <dgm:prSet/>
      <dgm:spPr/>
      <dgm:t>
        <a:bodyPr/>
        <a:lstStyle/>
        <a:p>
          <a:endParaRPr lang="el-GR"/>
        </a:p>
      </dgm:t>
    </dgm:pt>
    <dgm:pt modelId="{65CB4E2D-E208-4143-BFF8-7659C743E0BB}">
      <dgm:prSet/>
      <dgm:spPr/>
      <dgm:t>
        <a:bodyPr/>
        <a:lstStyle/>
        <a:p>
          <a:r>
            <a:rPr lang="el-GR" dirty="0"/>
            <a:t>Ενημέρωση </a:t>
          </a:r>
          <a:r>
            <a:rPr lang="en-US" dirty="0"/>
            <a:t>Q-table</a:t>
          </a:r>
          <a:endParaRPr lang="el-GR" dirty="0"/>
        </a:p>
        <a:p>
          <a:r>
            <a:rPr lang="en-US" dirty="0"/>
            <a:t> + CA </a:t>
          </a:r>
          <a:r>
            <a:rPr lang="el-GR" dirty="0"/>
            <a:t>δραστηριότητα</a:t>
          </a:r>
        </a:p>
      </dgm:t>
    </dgm:pt>
    <dgm:pt modelId="{ECBDC88C-FB8D-4095-9F48-454126A36CEE}" type="parTrans" cxnId="{936E22FD-C662-4633-ABB9-17EEA051E391}">
      <dgm:prSet/>
      <dgm:spPr/>
      <dgm:t>
        <a:bodyPr/>
        <a:lstStyle/>
        <a:p>
          <a:endParaRPr lang="el-GR"/>
        </a:p>
      </dgm:t>
    </dgm:pt>
    <dgm:pt modelId="{EB98BE4A-56EE-4D6F-92FE-32FFE9F907FF}" type="sibTrans" cxnId="{936E22FD-C662-4633-ABB9-17EEA051E391}">
      <dgm:prSet/>
      <dgm:spPr/>
      <dgm:t>
        <a:bodyPr/>
        <a:lstStyle/>
        <a:p>
          <a:endParaRPr lang="el-GR"/>
        </a:p>
      </dgm:t>
    </dgm:pt>
    <dgm:pt modelId="{6F8AADDA-8EFA-42D2-BEED-CB1D2F5065DC}">
      <dgm:prSet/>
      <dgm:spPr/>
      <dgm:t>
        <a:bodyPr/>
        <a:lstStyle/>
        <a:p>
          <a:r>
            <a:rPr lang="el-GR" dirty="0"/>
            <a:t>Οπτικοποίηση &amp; Στατιστικά</a:t>
          </a:r>
        </a:p>
      </dgm:t>
    </dgm:pt>
    <dgm:pt modelId="{737E3B6F-6BA3-4144-9550-10C41B89ADDE}" type="parTrans" cxnId="{4393E000-6B12-42DC-AA5E-763AA70D29A9}">
      <dgm:prSet/>
      <dgm:spPr/>
      <dgm:t>
        <a:bodyPr/>
        <a:lstStyle/>
        <a:p>
          <a:endParaRPr lang="el-GR"/>
        </a:p>
      </dgm:t>
    </dgm:pt>
    <dgm:pt modelId="{1BF00B21-BCFB-465C-B653-FD199893B91F}" type="sibTrans" cxnId="{4393E000-6B12-42DC-AA5E-763AA70D29A9}">
      <dgm:prSet/>
      <dgm:spPr/>
      <dgm:t>
        <a:bodyPr/>
        <a:lstStyle/>
        <a:p>
          <a:endParaRPr lang="el-GR"/>
        </a:p>
      </dgm:t>
    </dgm:pt>
    <dgm:pt modelId="{C478BA98-8F29-4586-8A83-CF1B5C7C3228}">
      <dgm:prSet phldrT="[Κείμενο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l-GR" dirty="0"/>
            <a:t>Περιβάλλον </a:t>
          </a:r>
          <a:r>
            <a:rPr lang="en-US" dirty="0"/>
            <a:t>Grid</a:t>
          </a:r>
          <a:endParaRPr lang="el-GR" dirty="0"/>
        </a:p>
      </dgm:t>
    </dgm:pt>
    <dgm:pt modelId="{082035A0-6BBE-4862-8FF8-DFAB4A8FE52C}" type="sibTrans" cxnId="{B8FB902E-773C-4D77-B591-D50B449CB1B5}">
      <dgm:prSet/>
      <dgm:spPr/>
      <dgm:t>
        <a:bodyPr/>
        <a:lstStyle/>
        <a:p>
          <a:endParaRPr lang="el-GR"/>
        </a:p>
      </dgm:t>
    </dgm:pt>
    <dgm:pt modelId="{89AAA37F-A81B-4072-AE59-955D37C91E90}" type="parTrans" cxnId="{B8FB902E-773C-4D77-B591-D50B449CB1B5}">
      <dgm:prSet/>
      <dgm:spPr/>
      <dgm:t>
        <a:bodyPr/>
        <a:lstStyle/>
        <a:p>
          <a:endParaRPr lang="el-GR"/>
        </a:p>
      </dgm:t>
    </dgm:pt>
    <dgm:pt modelId="{865E29A9-8DC0-4C7C-8007-E8F3FDD6CCE4}" type="pres">
      <dgm:prSet presAssocID="{CD4B0B63-887D-45E6-A4D2-F88C56553173}" presName="Name0" presStyleCnt="0">
        <dgm:presLayoutVars>
          <dgm:dir/>
          <dgm:animLvl val="lvl"/>
          <dgm:resizeHandles val="exact"/>
        </dgm:presLayoutVars>
      </dgm:prSet>
      <dgm:spPr/>
    </dgm:pt>
    <dgm:pt modelId="{2F06B087-1D7A-4B1D-BA5F-85E70FFED3B7}" type="pres">
      <dgm:prSet presAssocID="{6F8AADDA-8EFA-42D2-BEED-CB1D2F5065DC}" presName="boxAndChildren" presStyleCnt="0"/>
      <dgm:spPr/>
    </dgm:pt>
    <dgm:pt modelId="{05B71CA6-1FAB-45BA-9BD8-A6DF38E87914}" type="pres">
      <dgm:prSet presAssocID="{6F8AADDA-8EFA-42D2-BEED-CB1D2F5065DC}" presName="parentTextBox" presStyleLbl="node1" presStyleIdx="0" presStyleCnt="4"/>
      <dgm:spPr/>
    </dgm:pt>
    <dgm:pt modelId="{A3853847-8B1E-4F2D-B19F-313ADAFDE0D7}" type="pres">
      <dgm:prSet presAssocID="{EB98BE4A-56EE-4D6F-92FE-32FFE9F907FF}" presName="sp" presStyleCnt="0"/>
      <dgm:spPr/>
    </dgm:pt>
    <dgm:pt modelId="{CC378141-35E2-465F-AE6B-5EB79D0A04F4}" type="pres">
      <dgm:prSet presAssocID="{65CB4E2D-E208-4143-BFF8-7659C743E0BB}" presName="arrowAndChildren" presStyleCnt="0"/>
      <dgm:spPr/>
    </dgm:pt>
    <dgm:pt modelId="{E67EACD3-93AD-4E49-92F6-0637CEE94F2F}" type="pres">
      <dgm:prSet presAssocID="{65CB4E2D-E208-4143-BFF8-7659C743E0BB}" presName="parentTextArrow" presStyleLbl="node1" presStyleIdx="1" presStyleCnt="4"/>
      <dgm:spPr/>
    </dgm:pt>
    <dgm:pt modelId="{5361D3A3-8667-4E35-A2E8-876211B79765}" type="pres">
      <dgm:prSet presAssocID="{326D2B12-03E0-48B5-B2D8-945C24BA3364}" presName="sp" presStyleCnt="0"/>
      <dgm:spPr/>
    </dgm:pt>
    <dgm:pt modelId="{ECAAF83C-07BC-4543-AD04-3183FFC62C5B}" type="pres">
      <dgm:prSet presAssocID="{4D8EB9C0-A340-4B2F-91A1-A71ABD5871F1}" presName="arrowAndChildren" presStyleCnt="0"/>
      <dgm:spPr/>
    </dgm:pt>
    <dgm:pt modelId="{108EA1E2-2252-4B39-82BC-3D1743AAE034}" type="pres">
      <dgm:prSet presAssocID="{4D8EB9C0-A340-4B2F-91A1-A71ABD5871F1}" presName="parentTextArrow" presStyleLbl="node1" presStyleIdx="2" presStyleCnt="4"/>
      <dgm:spPr/>
    </dgm:pt>
    <dgm:pt modelId="{29D8F88E-70BE-44CD-B4C1-E099C70BEE33}" type="pres">
      <dgm:prSet presAssocID="{082035A0-6BBE-4862-8FF8-DFAB4A8FE52C}" presName="sp" presStyleCnt="0"/>
      <dgm:spPr/>
    </dgm:pt>
    <dgm:pt modelId="{ED6905A7-7561-456F-86E1-780D53396666}" type="pres">
      <dgm:prSet presAssocID="{C478BA98-8F29-4586-8A83-CF1B5C7C3228}" presName="arrowAndChildren" presStyleCnt="0"/>
      <dgm:spPr/>
    </dgm:pt>
    <dgm:pt modelId="{E62E51A1-A078-4A91-88CF-6D58A2EC3699}" type="pres">
      <dgm:prSet presAssocID="{C478BA98-8F29-4586-8A83-CF1B5C7C3228}" presName="parentTextArrow" presStyleLbl="node1" presStyleIdx="3" presStyleCnt="4" custLinFactY="-27887" custLinFactNeighborX="-7327" custLinFactNeighborY="-100000"/>
      <dgm:spPr/>
    </dgm:pt>
  </dgm:ptLst>
  <dgm:cxnLst>
    <dgm:cxn modelId="{4393E000-6B12-42DC-AA5E-763AA70D29A9}" srcId="{CD4B0B63-887D-45E6-A4D2-F88C56553173}" destId="{6F8AADDA-8EFA-42D2-BEED-CB1D2F5065DC}" srcOrd="3" destOrd="0" parTransId="{737E3B6F-6BA3-4144-9550-10C41B89ADDE}" sibTransId="{1BF00B21-BCFB-465C-B653-FD199893B91F}"/>
    <dgm:cxn modelId="{B8FB902E-773C-4D77-B591-D50B449CB1B5}" srcId="{CD4B0B63-887D-45E6-A4D2-F88C56553173}" destId="{C478BA98-8F29-4586-8A83-CF1B5C7C3228}" srcOrd="0" destOrd="0" parTransId="{89AAA37F-A81B-4072-AE59-955D37C91E90}" sibTransId="{082035A0-6BBE-4862-8FF8-DFAB4A8FE52C}"/>
    <dgm:cxn modelId="{CA3B7C77-45B8-4944-8702-46E896754C1F}" type="presOf" srcId="{6F8AADDA-8EFA-42D2-BEED-CB1D2F5065DC}" destId="{05B71CA6-1FAB-45BA-9BD8-A6DF38E87914}" srcOrd="0" destOrd="0" presId="urn:microsoft.com/office/officeart/2005/8/layout/process4"/>
    <dgm:cxn modelId="{AF4B6F8C-7756-484B-9241-D7F96457CBE0}" type="presOf" srcId="{4D8EB9C0-A340-4B2F-91A1-A71ABD5871F1}" destId="{108EA1E2-2252-4B39-82BC-3D1743AAE034}" srcOrd="0" destOrd="0" presId="urn:microsoft.com/office/officeart/2005/8/layout/process4"/>
    <dgm:cxn modelId="{B0CA2793-A4B4-482C-BCB5-78A8E9DA32B5}" srcId="{CD4B0B63-887D-45E6-A4D2-F88C56553173}" destId="{4D8EB9C0-A340-4B2F-91A1-A71ABD5871F1}" srcOrd="1" destOrd="0" parTransId="{6EA59717-ECDD-4709-8435-AA147C644ADD}" sibTransId="{326D2B12-03E0-48B5-B2D8-945C24BA3364}"/>
    <dgm:cxn modelId="{FAFAADCC-247E-4A25-BC2F-67CFB06088DF}" type="presOf" srcId="{65CB4E2D-E208-4143-BFF8-7659C743E0BB}" destId="{E67EACD3-93AD-4E49-92F6-0637CEE94F2F}" srcOrd="0" destOrd="0" presId="urn:microsoft.com/office/officeart/2005/8/layout/process4"/>
    <dgm:cxn modelId="{A93AA6F6-8F22-46AD-91EC-656ECDB0251B}" type="presOf" srcId="{C478BA98-8F29-4586-8A83-CF1B5C7C3228}" destId="{E62E51A1-A078-4A91-88CF-6D58A2EC3699}" srcOrd="0" destOrd="0" presId="urn:microsoft.com/office/officeart/2005/8/layout/process4"/>
    <dgm:cxn modelId="{936E22FD-C662-4633-ABB9-17EEA051E391}" srcId="{CD4B0B63-887D-45E6-A4D2-F88C56553173}" destId="{65CB4E2D-E208-4143-BFF8-7659C743E0BB}" srcOrd="2" destOrd="0" parTransId="{ECBDC88C-FB8D-4095-9F48-454126A36CEE}" sibTransId="{EB98BE4A-56EE-4D6F-92FE-32FFE9F907FF}"/>
    <dgm:cxn modelId="{952F28FD-A92B-4369-935A-E4E2B473BB34}" type="presOf" srcId="{CD4B0B63-887D-45E6-A4D2-F88C56553173}" destId="{865E29A9-8DC0-4C7C-8007-E8F3FDD6CCE4}" srcOrd="0" destOrd="0" presId="urn:microsoft.com/office/officeart/2005/8/layout/process4"/>
    <dgm:cxn modelId="{4DF9A039-59CE-413B-8442-4FD13361CF1E}" type="presParOf" srcId="{865E29A9-8DC0-4C7C-8007-E8F3FDD6CCE4}" destId="{2F06B087-1D7A-4B1D-BA5F-85E70FFED3B7}" srcOrd="0" destOrd="0" presId="urn:microsoft.com/office/officeart/2005/8/layout/process4"/>
    <dgm:cxn modelId="{D3A08D8F-306F-4A9F-99A2-FE511E9F9ADF}" type="presParOf" srcId="{2F06B087-1D7A-4B1D-BA5F-85E70FFED3B7}" destId="{05B71CA6-1FAB-45BA-9BD8-A6DF38E87914}" srcOrd="0" destOrd="0" presId="urn:microsoft.com/office/officeart/2005/8/layout/process4"/>
    <dgm:cxn modelId="{F73FA46C-1483-4872-8639-3A758E91A8A2}" type="presParOf" srcId="{865E29A9-8DC0-4C7C-8007-E8F3FDD6CCE4}" destId="{A3853847-8B1E-4F2D-B19F-313ADAFDE0D7}" srcOrd="1" destOrd="0" presId="urn:microsoft.com/office/officeart/2005/8/layout/process4"/>
    <dgm:cxn modelId="{4B5FC670-D7E9-481A-8655-30D6383D6177}" type="presParOf" srcId="{865E29A9-8DC0-4C7C-8007-E8F3FDD6CCE4}" destId="{CC378141-35E2-465F-AE6B-5EB79D0A04F4}" srcOrd="2" destOrd="0" presId="urn:microsoft.com/office/officeart/2005/8/layout/process4"/>
    <dgm:cxn modelId="{87543EC2-89C5-46B3-8DF5-D574AAA0574D}" type="presParOf" srcId="{CC378141-35E2-465F-AE6B-5EB79D0A04F4}" destId="{E67EACD3-93AD-4E49-92F6-0637CEE94F2F}" srcOrd="0" destOrd="0" presId="urn:microsoft.com/office/officeart/2005/8/layout/process4"/>
    <dgm:cxn modelId="{183ABE26-C6AF-45EB-B1D7-4E533A368734}" type="presParOf" srcId="{865E29A9-8DC0-4C7C-8007-E8F3FDD6CCE4}" destId="{5361D3A3-8667-4E35-A2E8-876211B79765}" srcOrd="3" destOrd="0" presId="urn:microsoft.com/office/officeart/2005/8/layout/process4"/>
    <dgm:cxn modelId="{F7BB736C-072D-4E44-B0BC-D58094D5F263}" type="presParOf" srcId="{865E29A9-8DC0-4C7C-8007-E8F3FDD6CCE4}" destId="{ECAAF83C-07BC-4543-AD04-3183FFC62C5B}" srcOrd="4" destOrd="0" presId="urn:microsoft.com/office/officeart/2005/8/layout/process4"/>
    <dgm:cxn modelId="{02117742-CF92-4EBE-93B2-06EC55FB90F2}" type="presParOf" srcId="{ECAAF83C-07BC-4543-AD04-3183FFC62C5B}" destId="{108EA1E2-2252-4B39-82BC-3D1743AAE034}" srcOrd="0" destOrd="0" presId="urn:microsoft.com/office/officeart/2005/8/layout/process4"/>
    <dgm:cxn modelId="{40E66BE1-5C94-438B-B83F-F7502D217B7A}" type="presParOf" srcId="{865E29A9-8DC0-4C7C-8007-E8F3FDD6CCE4}" destId="{29D8F88E-70BE-44CD-B4C1-E099C70BEE33}" srcOrd="5" destOrd="0" presId="urn:microsoft.com/office/officeart/2005/8/layout/process4"/>
    <dgm:cxn modelId="{B3CC90AB-B269-4F99-9539-786469D24E72}" type="presParOf" srcId="{865E29A9-8DC0-4C7C-8007-E8F3FDD6CCE4}" destId="{ED6905A7-7561-456F-86E1-780D53396666}" srcOrd="6" destOrd="0" presId="urn:microsoft.com/office/officeart/2005/8/layout/process4"/>
    <dgm:cxn modelId="{E14B7CB0-954C-4897-89AE-60DF8FE1AC87}" type="presParOf" srcId="{ED6905A7-7561-456F-86E1-780D53396666}" destId="{E62E51A1-A078-4A91-88CF-6D58A2EC3699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B71CA6-1FAB-45BA-9BD8-A6DF38E87914}">
      <dsp:nvSpPr>
        <dsp:cNvPr id="0" name=""/>
        <dsp:cNvSpPr/>
      </dsp:nvSpPr>
      <dsp:spPr>
        <a:xfrm>
          <a:off x="0" y="3520189"/>
          <a:ext cx="4061454" cy="7701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600" kern="1200" dirty="0"/>
            <a:t>Οπτικοποίηση &amp; Στατιστικά</a:t>
          </a:r>
        </a:p>
      </dsp:txBody>
      <dsp:txXfrm>
        <a:off x="0" y="3520189"/>
        <a:ext cx="4061454" cy="770131"/>
      </dsp:txXfrm>
    </dsp:sp>
    <dsp:sp modelId="{E67EACD3-93AD-4E49-92F6-0637CEE94F2F}">
      <dsp:nvSpPr>
        <dsp:cNvPr id="0" name=""/>
        <dsp:cNvSpPr/>
      </dsp:nvSpPr>
      <dsp:spPr>
        <a:xfrm rot="10800000">
          <a:off x="0" y="2347279"/>
          <a:ext cx="4061454" cy="1184462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600" kern="1200" dirty="0"/>
            <a:t>Ενημέρωση </a:t>
          </a:r>
          <a:r>
            <a:rPr lang="en-US" sz="1600" kern="1200" dirty="0"/>
            <a:t>Q-table</a:t>
          </a:r>
          <a:endParaRPr lang="el-GR" sz="1600" kern="1200" dirty="0"/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 + CA </a:t>
          </a:r>
          <a:r>
            <a:rPr lang="el-GR" sz="1600" kern="1200" dirty="0"/>
            <a:t>δραστηριότητα</a:t>
          </a:r>
        </a:p>
      </dsp:txBody>
      <dsp:txXfrm rot="10800000">
        <a:off x="0" y="2347279"/>
        <a:ext cx="4061454" cy="769628"/>
      </dsp:txXfrm>
    </dsp:sp>
    <dsp:sp modelId="{108EA1E2-2252-4B39-82BC-3D1743AAE034}">
      <dsp:nvSpPr>
        <dsp:cNvPr id="0" name=""/>
        <dsp:cNvSpPr/>
      </dsp:nvSpPr>
      <dsp:spPr>
        <a:xfrm rot="10800000">
          <a:off x="0" y="1174369"/>
          <a:ext cx="4061454" cy="1184462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600" kern="1200" dirty="0"/>
            <a:t>Πράκτορας</a:t>
          </a:r>
        </a:p>
      </dsp:txBody>
      <dsp:txXfrm rot="10800000">
        <a:off x="0" y="1174369"/>
        <a:ext cx="4061454" cy="769628"/>
      </dsp:txXfrm>
    </dsp:sp>
    <dsp:sp modelId="{E62E51A1-A078-4A91-88CF-6D58A2EC3699}">
      <dsp:nvSpPr>
        <dsp:cNvPr id="0" name=""/>
        <dsp:cNvSpPr/>
      </dsp:nvSpPr>
      <dsp:spPr>
        <a:xfrm rot="10800000">
          <a:off x="0" y="0"/>
          <a:ext cx="4061454" cy="1184462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l-GR" sz="1600" kern="1200" dirty="0"/>
            <a:t>Περιβάλλον </a:t>
          </a:r>
          <a:r>
            <a:rPr lang="en-US" sz="1600" kern="1200" dirty="0"/>
            <a:t>Grid</a:t>
          </a:r>
          <a:endParaRPr lang="el-GR" sz="1600" kern="1200" dirty="0"/>
        </a:p>
      </dsp:txBody>
      <dsp:txXfrm rot="10800000">
        <a:off x="0" y="0"/>
        <a:ext cx="4061454" cy="7696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κεφαλίδας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824A1D-EA57-4D8C-966D-D9D7B1288C56}" type="datetimeFigureOut">
              <a:rPr lang="el-GR" smtClean="0"/>
              <a:t>27/6/2025</a:t>
            </a:fld>
            <a:endParaRPr lang="el-GR"/>
          </a:p>
        </p:txBody>
      </p:sp>
      <p:sp>
        <p:nvSpPr>
          <p:cNvPr id="4" name="Θέση εικόνας διαφάνειας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l-GR"/>
          </a:p>
        </p:txBody>
      </p:sp>
      <p:sp>
        <p:nvSpPr>
          <p:cNvPr id="5" name="Θέση σημειώσεων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392239-9D0D-4E04-9553-F7C76D11500B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956693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392239-9D0D-4E04-9553-F7C76D11500B}" type="slidenum">
              <a:rPr lang="el-GR" smtClean="0"/>
              <a:t>13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880111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78455-F287-5052-7189-830784A7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78E500DF-F29F-68CE-3905-6CC9270852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F5A83EB6-CB53-F39E-9DE8-99FAE23CB7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7E0280D7-BA9C-CDD3-5176-EBE3661241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392239-9D0D-4E04-9553-F7C76D11500B}" type="slidenum">
              <a:rPr lang="el-GR" smtClean="0"/>
              <a:t>14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94876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568B5-9627-DCFF-4003-34AAC7CCE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7E13C4DA-5038-1951-C6F6-D42454AB27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2FE218E3-9AB7-04BC-7694-A7D2943E13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F9C83010-47AC-DD91-5B9E-20022A1555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392239-9D0D-4E04-9553-F7C76D11500B}" type="slidenum">
              <a:rPr lang="el-GR" smtClean="0"/>
              <a:t>15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9864057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457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532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781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710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6/24/2025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793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6/24/2025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990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6/24/2025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595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500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830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960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120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1960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76" r:id="rId6"/>
    <p:sldLayoutId id="2147483672" r:id="rId7"/>
    <p:sldLayoutId id="2147483673" r:id="rId8"/>
    <p:sldLayoutId id="2147483674" r:id="rId9"/>
    <p:sldLayoutId id="2147483675" r:id="rId10"/>
    <p:sldLayoutId id="214748367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5CB65D0-496F-4797-A015-C85839E35D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Machine in a laboratory">
            <a:extLst>
              <a:ext uri="{FF2B5EF4-FFF2-40B4-BE49-F238E27FC236}">
                <a16:creationId xmlns:a16="http://schemas.microsoft.com/office/drawing/2014/main" id="{68D96B1F-B177-AC6C-E50C-3F2530F0CE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225" b="4505"/>
          <a:stretch>
            <a:fillRect/>
          </a:stretch>
        </p:blipFill>
        <p:spPr>
          <a:xfrm>
            <a:off x="1" y="10"/>
            <a:ext cx="12192000" cy="685798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5D2C779-8883-4E5F-A170-0F464918C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307" y="990598"/>
            <a:ext cx="12188952" cy="4745182"/>
          </a:xfrm>
          <a:prstGeom prst="rect">
            <a:avLst/>
          </a:prstGeom>
          <a:gradFill>
            <a:gsLst>
              <a:gs pos="35000">
                <a:srgbClr val="000000">
                  <a:alpha val="41000"/>
                </a:srgbClr>
              </a:gs>
              <a:gs pos="0">
                <a:srgbClr val="000000">
                  <a:alpha val="0"/>
                </a:srgbClr>
              </a:gs>
              <a:gs pos="47744">
                <a:srgbClr val="000000">
                  <a:alpha val="51000"/>
                </a:srgbClr>
              </a:gs>
              <a:gs pos="70000">
                <a:srgbClr val="000000">
                  <a:alpha val="37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F790B001-AA1B-B73E-F438-33680C1AE6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451" y="1583725"/>
            <a:ext cx="7590500" cy="3588103"/>
          </a:xfrm>
        </p:spPr>
        <p:txBody>
          <a:bodyPr anchor="ctr">
            <a:normAutofit/>
          </a:bodyPr>
          <a:lstStyle/>
          <a:p>
            <a:pPr algn="ctr"/>
            <a:r>
              <a:rPr lang="el-GR" sz="4800" dirty="0"/>
              <a:t>Χρήση Κυψελιδωτών Αυτομάτων Μάθησης για Πλοήγηση Ρομπότ</a:t>
            </a:r>
            <a:endParaRPr lang="el-GR" sz="4800" dirty="0">
              <a:solidFill>
                <a:srgbClr val="FFFFFF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96A694-258D-4418-A83C-B9BA72FD44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115300" y="1780927"/>
            <a:ext cx="0" cy="3390901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sx="88000" sy="88000" algn="tl" rotWithShape="0">
              <a:prstClr val="black">
                <a:alpha val="26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FF97708-CFD5-9F86-4412-AB87B40EAC7E}"/>
              </a:ext>
            </a:extLst>
          </p:cNvPr>
          <p:cNvSpPr txBox="1"/>
          <p:nvPr/>
        </p:nvSpPr>
        <p:spPr>
          <a:xfrm>
            <a:off x="8358650" y="2507226"/>
            <a:ext cx="355189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2400" dirty="0"/>
              <a:t>Φοιτητές:</a:t>
            </a:r>
          </a:p>
          <a:p>
            <a:r>
              <a:rPr lang="el-GR" sz="2400" dirty="0"/>
              <a:t>Αντώνης Θεμελής 58565</a:t>
            </a:r>
          </a:p>
          <a:p>
            <a:r>
              <a:rPr lang="el-GR" sz="2400" dirty="0"/>
              <a:t>Δημήτριος Λίλλης 58598</a:t>
            </a:r>
          </a:p>
          <a:p>
            <a:endParaRPr lang="el-GR" sz="2400" dirty="0"/>
          </a:p>
          <a:p>
            <a:pPr algn="ctr"/>
            <a:r>
              <a:rPr lang="el-GR" sz="2400" dirty="0"/>
              <a:t>Υπ. Καθηγητής: Συρακούλης Γεώργιος</a:t>
            </a:r>
            <a:r>
              <a:rPr lang="el-GR" dirty="0"/>
              <a:t>	</a:t>
            </a:r>
          </a:p>
        </p:txBody>
      </p:sp>
      <p:pic>
        <p:nvPicPr>
          <p:cNvPr id="1026" name="Picture 2" descr="Open photo">
            <a:extLst>
              <a:ext uri="{FF2B5EF4-FFF2-40B4-BE49-F238E27FC236}">
                <a16:creationId xmlns:a16="http://schemas.microsoft.com/office/drawing/2014/main" id="{5D14A619-E2AA-65B4-C5DF-F0F9488B71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316" y="34123"/>
            <a:ext cx="631825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" name="Εικόνα 1" descr="Εικόνα που περιέχει στιγμιότυπο οθόνης&#10;&#10;Το περιεχόμενο που δημιουργείται από τεχνολογία AI ενδέχεται να είναι εσφαλμένο.">
            <a:extLst>
              <a:ext uri="{FF2B5EF4-FFF2-40B4-BE49-F238E27FC236}">
                <a16:creationId xmlns:a16="http://schemas.microsoft.com/office/drawing/2014/main" id="{96B4B07E-2D8F-BF1F-0422-E96CB0F570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141" y="125628"/>
            <a:ext cx="3162300" cy="693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3A02C97F-039C-4486-207D-AB39F702D7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316" y="-42307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l-GR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82A72FEE-4ECB-DCE4-BFAB-5AA2228E00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316" y="79612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l-GR" altLang="el-G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kumimoji="0" lang="el-GR" altLang="el-G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  </a:t>
            </a:r>
            <a:endParaRPr kumimoji="0" lang="el-GR" altLang="el-G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F8EDC2E5-8BA6-4FE4-F43B-BC30CEF64A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316" y="148986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0925823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8869A489-BE81-942E-207A-D7D7C62B6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802640"/>
            <a:ext cx="3799763" cy="1473200"/>
          </a:xfrm>
        </p:spPr>
        <p:txBody>
          <a:bodyPr>
            <a:normAutofit/>
          </a:bodyPr>
          <a:lstStyle/>
          <a:p>
            <a:r>
              <a:rPr lang="el-G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Εισαγωγή</a:t>
            </a:r>
            <a:endParaRPr lang="el-GR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95AA78C3-5151-1C85-0EEE-FDA6AF3941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1767840"/>
            <a:ext cx="5097272" cy="494792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l-GR" sz="2400" dirty="0"/>
              <a:t>Σκοπός της εργασίας μας, είναι: </a:t>
            </a:r>
          </a:p>
          <a:p>
            <a:pPr>
              <a:lnSpc>
                <a:spcPct val="100000"/>
              </a:lnSpc>
            </a:pPr>
            <a:r>
              <a:rPr lang="el-GR" sz="2400" dirty="0"/>
              <a:t>Η υλοποίηση ενός ρομπότ που μαθαίνει να κινείται σε ένα πλέγμα (30</a:t>
            </a:r>
            <a:r>
              <a:rPr lang="en-US" sz="2400" dirty="0"/>
              <a:t>x30</a:t>
            </a:r>
            <a:r>
              <a:rPr lang="el-GR" sz="2400" dirty="0"/>
              <a:t>), αποφεύγοντας εμπόδια και φτάνοντας στον στόχο.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l-GR" sz="2400" dirty="0"/>
              <a:t>Πως το επιτυγχάνει αυτό;</a:t>
            </a:r>
          </a:p>
          <a:p>
            <a:pPr>
              <a:lnSpc>
                <a:spcPct val="100000"/>
              </a:lnSpc>
            </a:pPr>
            <a:r>
              <a:rPr lang="el-GR" sz="2400" dirty="0"/>
              <a:t>Μέσω ενισχυτικής μάθησης (Q-learning) με Κυψελιδωτά Αυτόματα (CA) για μοντελοποίηση και χαρτογράφηση του περιβάλλοντος.</a:t>
            </a:r>
          </a:p>
        </p:txBody>
      </p:sp>
      <p:pic>
        <p:nvPicPr>
          <p:cNvPr id="5" name="Εικόνα 4">
            <a:extLst>
              <a:ext uri="{FF2B5EF4-FFF2-40B4-BE49-F238E27FC236}">
                <a16:creationId xmlns:a16="http://schemas.microsoft.com/office/drawing/2014/main" id="{3E277133-9B56-8266-3296-8402AE718C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646" r="-2" b="2690"/>
          <a:stretch>
            <a:fillRect/>
          </a:stretch>
        </p:blipFill>
        <p:spPr>
          <a:xfrm>
            <a:off x="6096000" y="913449"/>
            <a:ext cx="5666058" cy="4727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0238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C978F-3013-E309-C043-4C270B3B8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14A4AF31-A2F9-F620-25B3-794E0AAA9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802640"/>
            <a:ext cx="4556170" cy="1473200"/>
          </a:xfrm>
        </p:spPr>
        <p:txBody>
          <a:bodyPr>
            <a:normAutofit/>
          </a:bodyPr>
          <a:lstStyle/>
          <a:p>
            <a:r>
              <a:rPr lang="el-G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Εφαρμογή των </a:t>
            </a:r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</a:t>
            </a:r>
            <a:endParaRPr lang="el-GR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9F00F77E-D899-1DC4-6486-90BE6CC109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942" y="1767839"/>
            <a:ext cx="5397910" cy="442648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l-GR" sz="2400" dirty="0"/>
              <a:t>Τα Κυψελιδωτά Αυτόματα (ΚΑ) βρίσκουν εφαρμογές, όπως:</a:t>
            </a:r>
          </a:p>
          <a:p>
            <a:pPr>
              <a:lnSpc>
                <a:spcPct val="100000"/>
              </a:lnSpc>
            </a:pPr>
            <a:r>
              <a:rPr lang="el-GR" sz="2400" dirty="0"/>
              <a:t>Ρομποτική πλοήγηση και αποφυγή εμποδίων (γνωστού ή άγνωστου δομής περιβάλλον)</a:t>
            </a:r>
          </a:p>
          <a:p>
            <a:pPr>
              <a:lnSpc>
                <a:spcPct val="100000"/>
              </a:lnSpc>
            </a:pPr>
            <a:r>
              <a:rPr lang="el-GR" sz="2400" dirty="0"/>
              <a:t>Εξερεύνηση χώρων &amp; χαρτογράφηση</a:t>
            </a:r>
          </a:p>
          <a:p>
            <a:pPr>
              <a:lnSpc>
                <a:spcPct val="100000"/>
              </a:lnSpc>
            </a:pPr>
            <a:r>
              <a:rPr lang="el-GR" sz="2400" dirty="0"/>
              <a:t>Ερμηνεύσιμα μοντέλα μάθησης</a:t>
            </a:r>
          </a:p>
          <a:p>
            <a:pPr>
              <a:lnSpc>
                <a:spcPct val="100000"/>
              </a:lnSpc>
            </a:pPr>
            <a:r>
              <a:rPr lang="el-GR" sz="2400" dirty="0"/>
              <a:t>Φυσικά/βιολογικά φαινόμενα</a:t>
            </a:r>
          </a:p>
          <a:p>
            <a:pPr>
              <a:lnSpc>
                <a:spcPct val="100000"/>
              </a:lnSpc>
            </a:pPr>
            <a:r>
              <a:rPr lang="el-GR" sz="2400" dirty="0"/>
              <a:t>Χρήση σε </a:t>
            </a:r>
            <a:r>
              <a:rPr lang="el-GR" sz="2400" dirty="0" err="1"/>
              <a:t>logistics</a:t>
            </a:r>
            <a:r>
              <a:rPr lang="el-GR" sz="2400" dirty="0"/>
              <a:t>, αποθήκες, διασώσεις, αυτόνομα </a:t>
            </a:r>
            <a:r>
              <a:rPr lang="el-GR" sz="2400" dirty="0" err="1"/>
              <a:t>drones</a:t>
            </a:r>
            <a:r>
              <a:rPr lang="el-GR" sz="2400" dirty="0"/>
              <a:t> κ.ά.</a:t>
            </a:r>
          </a:p>
          <a:p>
            <a:pPr>
              <a:lnSpc>
                <a:spcPct val="100000"/>
              </a:lnSpc>
            </a:pPr>
            <a:endParaRPr lang="el-GR" sz="2400" dirty="0"/>
          </a:p>
        </p:txBody>
      </p:sp>
      <p:pic>
        <p:nvPicPr>
          <p:cNvPr id="5" name="Εικόνα 4">
            <a:extLst>
              <a:ext uri="{FF2B5EF4-FFF2-40B4-BE49-F238E27FC236}">
                <a16:creationId xmlns:a16="http://schemas.microsoft.com/office/drawing/2014/main" id="{CEF1E1F3-36CC-30AB-50C6-72F2AE237E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646" r="-2" b="2690"/>
          <a:stretch>
            <a:fillRect/>
          </a:stretch>
        </p:blipFill>
        <p:spPr>
          <a:xfrm>
            <a:off x="6096000" y="913449"/>
            <a:ext cx="5666058" cy="4727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2736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D6114-BC3C-52BC-59BF-4F7CAEECE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E860C447-24A9-2804-918C-018BCEE7D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l-GR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Θεωρητικό Υπόβαθρο – 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Q-learning</a:t>
            </a:r>
            <a:endParaRPr lang="el-G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DEAFF702-53EF-7E41-4670-F5A32D93A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759974"/>
            <a:ext cx="10691265" cy="42019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l-GR" sz="2400" dirty="0"/>
              <a:t>Τι είναι </a:t>
            </a:r>
            <a:r>
              <a:rPr lang="en-US" sz="2400" dirty="0"/>
              <a:t>Q-learning;</a:t>
            </a:r>
          </a:p>
          <a:p>
            <a:r>
              <a:rPr lang="el-GR" sz="2400" dirty="0"/>
              <a:t>Αλγόριθμος ενισχυτικής μάθησης χωρίς μοντέλο.</a:t>
            </a:r>
            <a:endParaRPr lang="en-US" sz="2400" dirty="0"/>
          </a:p>
          <a:p>
            <a:r>
              <a:rPr lang="el-GR" sz="2400" dirty="0"/>
              <a:t>Ο πράκτορας μαθαίνει μέσα από δοκιμές και λάθη, μέσω:</a:t>
            </a:r>
            <a:endParaRPr lang="en-US" sz="2400" dirty="0"/>
          </a:p>
          <a:p>
            <a:pPr lvl="1"/>
            <a:r>
              <a:rPr lang="el-GR" sz="2000" dirty="0"/>
              <a:t>Ανταμοιβών (</a:t>
            </a:r>
            <a:r>
              <a:rPr lang="en-US" sz="2000" dirty="0"/>
              <a:t>reward) </a:t>
            </a:r>
            <a:r>
              <a:rPr lang="el-GR" sz="2000" dirty="0"/>
              <a:t>όταν κάνει κάτι σωστό,</a:t>
            </a:r>
            <a:endParaRPr lang="en-US" sz="2000" dirty="0"/>
          </a:p>
          <a:p>
            <a:pPr lvl="1"/>
            <a:r>
              <a:rPr lang="el-GR" sz="2000" dirty="0"/>
              <a:t>Ποινών (</a:t>
            </a:r>
            <a:r>
              <a:rPr lang="en-US" sz="2000" dirty="0"/>
              <a:t>penalty) </a:t>
            </a:r>
            <a:r>
              <a:rPr lang="el-GR" sz="2000" dirty="0"/>
              <a:t>όταν αποτυγχάνει (π.χ. προσκρούει σε εμπόδιο).</a:t>
            </a:r>
            <a:endParaRPr lang="en-US" sz="2000" dirty="0"/>
          </a:p>
          <a:p>
            <a:r>
              <a:rPr lang="el-GR" sz="2400" dirty="0"/>
              <a:t>Κάθε κατάσταση και ενέργεια αντιστοιχεί σε μια τιμή (</a:t>
            </a:r>
            <a:r>
              <a:rPr lang="en-US" sz="2400" dirty="0"/>
              <a:t>Q-value), </a:t>
            </a:r>
            <a:r>
              <a:rPr lang="el-GR" sz="2400" dirty="0"/>
              <a:t>που βελτιώνεται με την εξίσωση </a:t>
            </a:r>
            <a:r>
              <a:rPr lang="en-US" sz="2400" dirty="0"/>
              <a:t>Bellman</a:t>
            </a:r>
            <a:r>
              <a:rPr lang="el-GR" sz="2400" dirty="0"/>
              <a:t> (επεξήγηση στην επόμενη διαφάνεια)</a:t>
            </a:r>
            <a:r>
              <a:rPr lang="en-US" sz="2400" dirty="0"/>
              <a:t>: 𝑄(𝑠,𝑎)←𝑄(𝑠,𝑎)+𝛼⋅[𝑟+𝛾⋅max⁡𝑄(𝑠′,𝑎′)−𝑄(𝑠,𝑎)]</a:t>
            </a:r>
            <a:r>
              <a:rPr lang="el-GR" sz="2400" dirty="0"/>
              <a:t> (1)</a:t>
            </a:r>
            <a:endParaRPr lang="en-US" sz="2400" dirty="0"/>
          </a:p>
          <a:p>
            <a:r>
              <a:rPr lang="el-GR" sz="2400" dirty="0"/>
              <a:t>Συνδυασμός εξερεύνησης</a:t>
            </a:r>
            <a:r>
              <a:rPr lang="en-US" sz="2400" dirty="0"/>
              <a:t> </a:t>
            </a:r>
            <a:r>
              <a:rPr lang="el-GR" sz="2400" dirty="0"/>
              <a:t>και εκμετάλλευσης</a:t>
            </a:r>
            <a:r>
              <a:rPr lang="en-US" sz="2400" dirty="0"/>
              <a:t> </a:t>
            </a:r>
            <a:r>
              <a:rPr lang="el-GR" sz="2400" dirty="0"/>
              <a:t>μέσω </a:t>
            </a:r>
            <a:r>
              <a:rPr lang="el-GR" sz="2400" dirty="0" err="1"/>
              <a:t>εψιλον</a:t>
            </a:r>
            <a:r>
              <a:rPr lang="el-GR" sz="2400" dirty="0"/>
              <a:t>-δέλτα (ε-</a:t>
            </a:r>
            <a:r>
              <a:rPr lang="en-US" sz="2400" dirty="0"/>
              <a:t>greedy).</a:t>
            </a:r>
            <a:endParaRPr lang="el-GR" sz="2400" dirty="0"/>
          </a:p>
        </p:txBody>
      </p:sp>
    </p:spTree>
    <p:extLst>
      <p:ext uri="{BB962C8B-B14F-4D97-AF65-F5344CB8AC3E}">
        <p14:creationId xmlns:p14="http://schemas.microsoft.com/office/powerpoint/2010/main" val="30085432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E9BF3A-B0CE-2BE4-060F-E4378B615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02F6794A-B5F6-A336-1B1F-468417D10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6001512" cy="1307592"/>
          </a:xfrm>
        </p:spPr>
        <p:txBody>
          <a:bodyPr>
            <a:normAutofit/>
          </a:bodyPr>
          <a:lstStyle/>
          <a:p>
            <a:r>
              <a:rPr lang="el-GR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Εξίσωση 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Bellman </a:t>
            </a:r>
            <a:endParaRPr lang="el-G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Straight Connector 10">
            <a:extLst>
              <a:ext uri="{FF2B5EF4-FFF2-40B4-BE49-F238E27FC236}">
                <a16:creationId xmlns:a16="http://schemas.microsoft.com/office/drawing/2014/main" id="{4583FD9E-C5A7-96F7-951D-7D292013C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2287596D-0586-B4A7-129E-20E9E40D4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5394" y="825910"/>
            <a:ext cx="6558116" cy="7422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𝑄(𝑠,𝑎)←𝑄(𝑠,𝑎)+𝛼⋅[𝑟+𝛾⋅max⁡𝑄(𝑠′,𝑎′)−𝑄(𝑠,𝑎)]</a:t>
            </a:r>
            <a:r>
              <a:rPr lang="el-GR" sz="2400" b="1" dirty="0"/>
              <a:t> (1)</a:t>
            </a:r>
          </a:p>
        </p:txBody>
      </p:sp>
      <p:graphicFrame>
        <p:nvGraphicFramePr>
          <p:cNvPr id="4" name="Πίνακας 3">
            <a:extLst>
              <a:ext uri="{FF2B5EF4-FFF2-40B4-BE49-F238E27FC236}">
                <a16:creationId xmlns:a16="http://schemas.microsoft.com/office/drawing/2014/main" id="{E91A570E-5816-9B89-98DF-283EC46413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5009095"/>
              </p:ext>
            </p:extLst>
          </p:nvPr>
        </p:nvGraphicFramePr>
        <p:xfrm>
          <a:off x="5673214" y="1465006"/>
          <a:ext cx="6244468" cy="4976433"/>
        </p:xfrm>
        <a:graphic>
          <a:graphicData uri="http://schemas.openxmlformats.org/drawingml/2006/table">
            <a:tbl>
              <a:tblPr/>
              <a:tblGrid>
                <a:gridCol w="1735332">
                  <a:extLst>
                    <a:ext uri="{9D8B030D-6E8A-4147-A177-3AD203B41FA5}">
                      <a16:colId xmlns:a16="http://schemas.microsoft.com/office/drawing/2014/main" val="1162815888"/>
                    </a:ext>
                  </a:extLst>
                </a:gridCol>
                <a:gridCol w="2257060">
                  <a:extLst>
                    <a:ext uri="{9D8B030D-6E8A-4147-A177-3AD203B41FA5}">
                      <a16:colId xmlns:a16="http://schemas.microsoft.com/office/drawing/2014/main" val="447698696"/>
                    </a:ext>
                  </a:extLst>
                </a:gridCol>
                <a:gridCol w="2252076">
                  <a:extLst>
                    <a:ext uri="{9D8B030D-6E8A-4147-A177-3AD203B41FA5}">
                      <a16:colId xmlns:a16="http://schemas.microsoft.com/office/drawing/2014/main" val="1200830117"/>
                    </a:ext>
                  </a:extLst>
                </a:gridCol>
              </a:tblGrid>
              <a:tr h="34320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l-GR" sz="1300" b="0" i="0" u="none" strike="noStrike">
                          <a:effectLst/>
                          <a:latin typeface="Arial" panose="020B0604020202020204" pitchFamily="34" charset="0"/>
                        </a:rPr>
                        <a:t>Σύμβολο</a:t>
                      </a:r>
                    </a:p>
                  </a:txBody>
                  <a:tcPr marL="64403" marR="64403" marT="32201" marB="3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l-GR" sz="1300" b="0" i="0" u="none" strike="noStrike">
                          <a:effectLst/>
                          <a:latin typeface="Arial" panose="020B0604020202020204" pitchFamily="34" charset="0"/>
                        </a:rPr>
                        <a:t>Τι είναι</a:t>
                      </a:r>
                    </a:p>
                  </a:txBody>
                  <a:tcPr marL="64403" marR="64403" marT="32201" marB="3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l-GR" sz="1300" b="0" i="0" u="none" strike="noStrike">
                          <a:effectLst/>
                          <a:latin typeface="Arial" panose="020B0604020202020204" pitchFamily="34" charset="0"/>
                        </a:rPr>
                        <a:t>Τι υπολογίζει</a:t>
                      </a:r>
                    </a:p>
                  </a:txBody>
                  <a:tcPr marL="64403" marR="64403" marT="32201" marB="3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6934047"/>
                  </a:ext>
                </a:extLst>
              </a:tr>
              <a:tr h="81120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i="0" u="none" strike="noStrike" dirty="0">
                          <a:effectLst/>
                          <a:latin typeface="Arial" panose="020B0604020202020204" pitchFamily="34" charset="0"/>
                        </a:rPr>
                        <a:t>Q(s, a)</a:t>
                      </a:r>
                      <a:endParaRPr lang="en-US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403" marR="64403" marT="32201" marB="3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l-GR" sz="1300" b="0" i="0" u="none" strike="noStrike" dirty="0">
                          <a:effectLst/>
                          <a:latin typeface="Arial" panose="020B0604020202020204" pitchFamily="34" charset="0"/>
                        </a:rPr>
                        <a:t>Τρέχουσα τιμή για την ενέργεια </a:t>
                      </a:r>
                      <a:r>
                        <a:rPr lang="en-US" sz="1300" b="0" i="0" u="none" strike="noStrike" dirty="0">
                          <a:effectLst/>
                          <a:latin typeface="Arial" panose="020B0604020202020204" pitchFamily="34" charset="0"/>
                        </a:rPr>
                        <a:t>a </a:t>
                      </a:r>
                      <a:r>
                        <a:rPr lang="el-GR" sz="1300" b="0" i="0" u="none" strike="noStrike" dirty="0">
                          <a:effectLst/>
                          <a:latin typeface="Arial" panose="020B0604020202020204" pitchFamily="34" charset="0"/>
                        </a:rPr>
                        <a:t>στην κατάσταση </a:t>
                      </a:r>
                      <a:r>
                        <a:rPr lang="en-US" sz="1300" b="0" i="0" u="none" strike="noStrike" dirty="0"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64403" marR="64403" marT="32201" marB="3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l-GR" sz="1300" b="0" i="0" u="none" strike="noStrike">
                          <a:effectLst/>
                          <a:latin typeface="Arial" panose="020B0604020202020204" pitchFamily="34" charset="0"/>
                        </a:rPr>
                        <a:t>Τι "πιστεύει" ο πράκτορας ότι θα κερδίσει</a:t>
                      </a:r>
                    </a:p>
                  </a:txBody>
                  <a:tcPr marL="64403" marR="64403" marT="32201" marB="3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8563462"/>
                  </a:ext>
                </a:extLst>
              </a:tr>
              <a:tr h="81120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l-GR" sz="1300" b="1" i="0" u="none" strike="noStrike" dirty="0">
                          <a:effectLst/>
                          <a:latin typeface="Arial" panose="020B0604020202020204" pitchFamily="34" charset="0"/>
                        </a:rPr>
                        <a:t>α (</a:t>
                      </a:r>
                      <a:r>
                        <a:rPr lang="en-US" sz="1300" b="1" i="0" u="none" strike="noStrike" dirty="0">
                          <a:effectLst/>
                          <a:latin typeface="Arial" panose="020B0604020202020204" pitchFamily="34" charset="0"/>
                        </a:rPr>
                        <a:t>alpha)</a:t>
                      </a:r>
                      <a:endParaRPr lang="en-US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403" marR="64403" marT="32201" marB="3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l-GR" sz="1300" b="0" i="0" u="none" strike="noStrike">
                          <a:effectLst/>
                          <a:latin typeface="Arial" panose="020B0604020202020204" pitchFamily="34" charset="0"/>
                        </a:rPr>
                        <a:t>Ρυθμός μάθησης</a:t>
                      </a:r>
                    </a:p>
                  </a:txBody>
                  <a:tcPr marL="64403" marR="64403" marT="32201" marB="3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l-GR" sz="1300" b="0" i="0" u="none" strike="noStrike">
                          <a:effectLst/>
                          <a:latin typeface="Arial" panose="020B0604020202020204" pitchFamily="34" charset="0"/>
                        </a:rPr>
                        <a:t>Πόσο "βαρύτητα" δίνουμε στη νέα εμπειρία</a:t>
                      </a:r>
                    </a:p>
                  </a:txBody>
                  <a:tcPr marL="64403" marR="64403" marT="32201" marB="3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4983700"/>
                  </a:ext>
                </a:extLst>
              </a:tr>
              <a:tr h="81120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i="0" u="none" strike="noStrike">
                          <a:effectLst/>
                          <a:latin typeface="Arial" panose="020B0604020202020204" pitchFamily="34" charset="0"/>
                        </a:rPr>
                        <a:t>r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403" marR="64403" marT="32201" marB="3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l-GR" sz="1300" b="0" i="0" u="none" strike="noStrike">
                          <a:effectLst/>
                          <a:latin typeface="Arial" panose="020B0604020202020204" pitchFamily="34" charset="0"/>
                        </a:rPr>
                        <a:t>Ανταμοιβή που πήραμε</a:t>
                      </a:r>
                    </a:p>
                  </a:txBody>
                  <a:tcPr marL="64403" marR="64403" marT="32201" marB="3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l-GR" sz="1300" b="0" i="0" u="none" strike="noStrike">
                          <a:effectLst/>
                          <a:latin typeface="Arial" panose="020B0604020202020204" pitchFamily="34" charset="0"/>
                        </a:rPr>
                        <a:t>Επιβράβευση ή ποινή από την ενέργεια</a:t>
                      </a:r>
                    </a:p>
                  </a:txBody>
                  <a:tcPr marL="64403" marR="64403" marT="32201" marB="3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0477084"/>
                  </a:ext>
                </a:extLst>
              </a:tr>
              <a:tr h="57720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l-GR" sz="1300" b="1" i="0" u="none" strike="noStrike">
                          <a:effectLst/>
                          <a:latin typeface="Arial" panose="020B0604020202020204" pitchFamily="34" charset="0"/>
                        </a:rPr>
                        <a:t>γ (</a:t>
                      </a:r>
                      <a:r>
                        <a:rPr lang="en-US" sz="1300" b="1" i="0" u="none" strike="noStrike">
                          <a:effectLst/>
                          <a:latin typeface="Arial" panose="020B0604020202020204" pitchFamily="34" charset="0"/>
                        </a:rPr>
                        <a:t>gamma)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403" marR="64403" marT="32201" marB="3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l-GR" sz="1300" b="0" i="0" u="none" strike="noStrike">
                          <a:effectLst/>
                          <a:latin typeface="Arial" panose="020B0604020202020204" pitchFamily="34" charset="0"/>
                        </a:rPr>
                        <a:t>Συντελεστής μελλοντικής αξίας</a:t>
                      </a:r>
                    </a:p>
                  </a:txBody>
                  <a:tcPr marL="64403" marR="64403" marT="32201" marB="3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l-GR" sz="1300" b="0" i="0" u="none" strike="noStrike">
                          <a:effectLst/>
                          <a:latin typeface="Arial" panose="020B0604020202020204" pitchFamily="34" charset="0"/>
                        </a:rPr>
                        <a:t>Πόσο μας νοιάζει το </a:t>
                      </a:r>
                      <a:r>
                        <a:rPr lang="el-GR" sz="1300" b="1" i="0" u="none" strike="noStrike">
                          <a:effectLst/>
                          <a:latin typeface="Arial" panose="020B0604020202020204" pitchFamily="34" charset="0"/>
                        </a:rPr>
                        <a:t>μέλλον</a:t>
                      </a:r>
                      <a:endParaRPr lang="el-GR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403" marR="64403" marT="32201" marB="3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8080767"/>
                  </a:ext>
                </a:extLst>
              </a:tr>
              <a:tr h="104520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i="0" u="none" strike="noStrike">
                          <a:effectLst/>
                          <a:latin typeface="Arial" panose="020B0604020202020204" pitchFamily="34" charset="0"/>
                        </a:rPr>
                        <a:t>max Q(s′, a′)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403" marR="64403" marT="32201" marB="3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l-GR" sz="1300" b="0" i="0" u="none" strike="noStrike">
                          <a:effectLst/>
                          <a:latin typeface="Arial" panose="020B0604020202020204" pitchFamily="34" charset="0"/>
                        </a:rPr>
                        <a:t>Καλύτερη δυνατή </a:t>
                      </a:r>
                      <a:r>
                        <a:rPr lang="en-US" sz="1300" b="0" i="0" u="none" strike="noStrike">
                          <a:effectLst/>
                          <a:latin typeface="Arial" panose="020B0604020202020204" pitchFamily="34" charset="0"/>
                        </a:rPr>
                        <a:t>Q-</a:t>
                      </a:r>
                      <a:r>
                        <a:rPr lang="el-GR" sz="1300" b="0" i="0" u="none" strike="noStrike">
                          <a:effectLst/>
                          <a:latin typeface="Arial" panose="020B0604020202020204" pitchFamily="34" charset="0"/>
                        </a:rPr>
                        <a:t>τιμή στην </a:t>
                      </a:r>
                      <a:r>
                        <a:rPr lang="el-GR" sz="1300" b="1" i="0" u="none" strike="noStrike">
                          <a:effectLst/>
                          <a:latin typeface="Arial" panose="020B0604020202020204" pitchFamily="34" charset="0"/>
                        </a:rPr>
                        <a:t>επόμενη</a:t>
                      </a:r>
                      <a:r>
                        <a:rPr lang="el-GR" sz="1300" b="0" i="0" u="none" strike="noStrike">
                          <a:effectLst/>
                          <a:latin typeface="Arial" panose="020B0604020202020204" pitchFamily="34" charset="0"/>
                        </a:rPr>
                        <a:t> κατάσταση</a:t>
                      </a:r>
                    </a:p>
                  </a:txBody>
                  <a:tcPr marL="64403" marR="64403" marT="32201" marB="3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l-GR" sz="1300" b="0" i="0" u="none" strike="noStrike">
                          <a:effectLst/>
                          <a:latin typeface="Arial" panose="020B0604020202020204" pitchFamily="34" charset="0"/>
                        </a:rPr>
                        <a:t>Τι περιμένουμε να κερδίσουμε αν συνεχίσουμε σωστά</a:t>
                      </a:r>
                    </a:p>
                  </a:txBody>
                  <a:tcPr marL="64403" marR="64403" marT="32201" marB="3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1979252"/>
                  </a:ext>
                </a:extLst>
              </a:tr>
              <a:tr h="57720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i="0" u="none" strike="noStrike" dirty="0">
                          <a:effectLst/>
                          <a:latin typeface="Arial" panose="020B0604020202020204" pitchFamily="34" charset="0"/>
                        </a:rPr>
                        <a:t>s'</a:t>
                      </a:r>
                      <a:endParaRPr lang="en-US" sz="1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403" marR="64403" marT="32201" marB="3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l-GR" sz="1300" b="0" i="0" u="none" strike="noStrike">
                          <a:effectLst/>
                          <a:latin typeface="Arial" panose="020B0604020202020204" pitchFamily="34" charset="0"/>
                        </a:rPr>
                        <a:t>Η νέα κατάσταση μετά την ενέργεια</a:t>
                      </a:r>
                    </a:p>
                  </a:txBody>
                  <a:tcPr marL="64403" marR="64403" marT="32201" marB="3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l-GR" sz="1300" b="0" i="0" u="none" strike="noStrike" dirty="0">
                          <a:effectLst/>
                          <a:latin typeface="Arial" panose="020B0604020202020204" pitchFamily="34" charset="0"/>
                        </a:rPr>
                        <a:t>Το αποτέλεσμα της κίνησης</a:t>
                      </a:r>
                    </a:p>
                  </a:txBody>
                  <a:tcPr marL="64403" marR="64403" marT="32201" marB="3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44498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BDA65F7-E4E8-61BA-F1A3-521A358F7A7A}"/>
              </a:ext>
            </a:extLst>
          </p:cNvPr>
          <p:cNvSpPr txBox="1"/>
          <p:nvPr/>
        </p:nvSpPr>
        <p:spPr>
          <a:xfrm>
            <a:off x="274318" y="1771575"/>
            <a:ext cx="4874859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400" b="1" dirty="0"/>
              <a:t>Τι κάνει συνολικά: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l-GR" sz="2400" b="1" dirty="0"/>
              <a:t>Ενημερώνει</a:t>
            </a:r>
            <a:r>
              <a:rPr lang="el-GR" sz="2400" dirty="0"/>
              <a:t> </a:t>
            </a:r>
            <a:r>
              <a:rPr lang="el-GR" sz="2400" b="1" dirty="0"/>
              <a:t>το</a:t>
            </a:r>
            <a:r>
              <a:rPr lang="el-GR" sz="2400" dirty="0"/>
              <a:t> </a:t>
            </a:r>
            <a:r>
              <a:rPr lang="el-GR" sz="2400" b="1" dirty="0"/>
              <a:t>Q(s, a) </a:t>
            </a:r>
            <a:r>
              <a:rPr lang="el-GR" sz="2400" dirty="0"/>
              <a:t>ώστε να πλησιάζει την πραγματική απόδοση αυτής της ενέργειας, με βάση: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l-GR" sz="2400" dirty="0"/>
              <a:t>την άμεση ανταμοιβή r,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l-GR" sz="2400" dirty="0"/>
              <a:t>και το καλύτερο που μπορούμε να περιμένουμε μετά από εκείνη την ενέργεια.</a:t>
            </a:r>
          </a:p>
          <a:p>
            <a:endParaRPr lang="el-GR" sz="2400" dirty="0"/>
          </a:p>
          <a:p>
            <a:r>
              <a:rPr lang="el-GR" sz="2400" dirty="0"/>
              <a:t>Δηλαδή: </a:t>
            </a:r>
            <a:r>
              <a:rPr lang="en-US" sz="2400" dirty="0"/>
              <a:t>Bellman update loop state → action → reward → new state</a:t>
            </a:r>
            <a:endParaRPr lang="el-GR" sz="2400" dirty="0"/>
          </a:p>
        </p:txBody>
      </p:sp>
    </p:spTree>
    <p:extLst>
      <p:ext uri="{BB962C8B-B14F-4D97-AF65-F5344CB8AC3E}">
        <p14:creationId xmlns:p14="http://schemas.microsoft.com/office/powerpoint/2010/main" val="23652387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16953-0FAA-323B-1353-F000ABECA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33083AFC-EA5D-A408-D45A-62B678D89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781665"/>
            <a:ext cx="10691265" cy="1307592"/>
          </a:xfrm>
        </p:spPr>
        <p:txBody>
          <a:bodyPr>
            <a:normAutofit/>
          </a:bodyPr>
          <a:lstStyle/>
          <a:p>
            <a:pPr algn="ctr"/>
            <a:r>
              <a:rPr lang="el-GR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Κυψελιδωτό Αυτόματο;</a:t>
            </a:r>
            <a:endParaRPr lang="el-G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C8979D90-A9DE-3646-34E1-F1F161764D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543665"/>
            <a:ext cx="11127571" cy="45326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l-GR" sz="2400" dirty="0"/>
              <a:t>Τι είναι ένα Κυψελιδωτό Αυτόματο;</a:t>
            </a:r>
          </a:p>
          <a:p>
            <a:r>
              <a:rPr lang="el-GR" sz="2400" dirty="0"/>
              <a:t>Υπολογιστικό μοντέλο βασισμένο σε πλέγμα κελιών.</a:t>
            </a:r>
          </a:p>
          <a:p>
            <a:r>
              <a:rPr lang="el-GR" sz="2400" dirty="0"/>
              <a:t>Κάθε κελί έχει κατάσταση που εξελίσσεται τοπικά, με βάση τους γείτονές του.</a:t>
            </a:r>
          </a:p>
          <a:p>
            <a:r>
              <a:rPr lang="el-GR" sz="2400" dirty="0"/>
              <a:t>Στην εργασία:</a:t>
            </a:r>
          </a:p>
          <a:p>
            <a:pPr lvl="1"/>
            <a:r>
              <a:rPr lang="el-GR" sz="2400" dirty="0"/>
              <a:t>Το CA καταγράφει ποιοι χώροι έχουν επισκεφθεί,</a:t>
            </a:r>
          </a:p>
          <a:p>
            <a:pPr lvl="1"/>
            <a:r>
              <a:rPr lang="el-GR" sz="2400" dirty="0"/>
              <a:t>Διαχέει δραστηριότητα στους γείτονες (memory-</a:t>
            </a:r>
            <a:r>
              <a:rPr lang="el-GR" sz="2400" dirty="0" err="1"/>
              <a:t>like</a:t>
            </a:r>
            <a:r>
              <a:rPr lang="el-GR" sz="2400" dirty="0"/>
              <a:t> </a:t>
            </a:r>
            <a:r>
              <a:rPr lang="el-GR" sz="2400" dirty="0" err="1"/>
              <a:t>effect</a:t>
            </a:r>
            <a:r>
              <a:rPr lang="el-GR" sz="2400" dirty="0"/>
              <a:t>),</a:t>
            </a:r>
          </a:p>
          <a:p>
            <a:pPr lvl="1"/>
            <a:r>
              <a:rPr lang="el-GR" sz="2400" dirty="0"/>
              <a:t>Βοηθά στη χαρτογράφηση συμπεριφοράς του πράκτορα.</a:t>
            </a:r>
          </a:p>
          <a:p>
            <a:pPr marL="0" indent="0">
              <a:buNone/>
            </a:pPr>
            <a:r>
              <a:rPr lang="el-GR" sz="2400" dirty="0"/>
              <a:t>«Τα CA επιτρέπουν απλή τοπική λήψη απόφασης, χρήσιμη σε κατανεμημένα ρομποτικά συστήματα.» — </a:t>
            </a:r>
            <a:r>
              <a:rPr lang="el-GR" sz="2400" dirty="0" err="1"/>
              <a:t>Sirakoulis</a:t>
            </a:r>
            <a:r>
              <a:rPr lang="el-GR" sz="2400" dirty="0"/>
              <a:t> &amp; </a:t>
            </a:r>
            <a:r>
              <a:rPr lang="el-GR" sz="2400" dirty="0" err="1"/>
              <a:t>Adamatzky</a:t>
            </a:r>
            <a:r>
              <a:rPr lang="el-GR" sz="2400" dirty="0"/>
              <a:t>, 2015</a:t>
            </a:r>
          </a:p>
          <a:p>
            <a:pPr marL="0" indent="0">
              <a:buNone/>
            </a:pPr>
            <a:endParaRPr lang="el-GR" sz="2400" dirty="0"/>
          </a:p>
        </p:txBody>
      </p:sp>
    </p:spTree>
    <p:extLst>
      <p:ext uri="{BB962C8B-B14F-4D97-AF65-F5344CB8AC3E}">
        <p14:creationId xmlns:p14="http://schemas.microsoft.com/office/powerpoint/2010/main" val="22013580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183E9-D0E7-FD6E-76AC-49F21DE5F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EC9DF69C-022E-447A-3E1D-64F4A408A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367" y="703006"/>
            <a:ext cx="10691265" cy="953729"/>
          </a:xfrm>
        </p:spPr>
        <p:txBody>
          <a:bodyPr/>
          <a:lstStyle/>
          <a:p>
            <a:pPr algn="ctr"/>
            <a:r>
              <a:rPr lang="el-GR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Πώς δουλεύει το σύστημα;</a:t>
            </a:r>
            <a:endParaRPr lang="el-G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AC57AD85-BFC8-3FBD-441F-E7BE515A85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814" y="1366684"/>
            <a:ext cx="6409900" cy="47883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l-GR" sz="1800" dirty="0"/>
              <a:t>Το σύστημα ακολουθεί τα εξής στάδια:</a:t>
            </a:r>
          </a:p>
          <a:p>
            <a:pPr marL="457200" indent="-457200">
              <a:buFont typeface="+mj-lt"/>
              <a:buAutoNum type="arabicPeriod"/>
            </a:pPr>
            <a:r>
              <a:rPr lang="el-GR" sz="1800" dirty="0"/>
              <a:t>Το περιβάλλον μοντελοποιείται ως πλέγμα (</a:t>
            </a:r>
            <a:r>
              <a:rPr lang="el-GR" sz="1800" dirty="0" err="1"/>
              <a:t>grid</a:t>
            </a:r>
            <a:r>
              <a:rPr lang="el-GR" sz="1800" dirty="0"/>
              <a:t>) με εμπόδια, ελεύθερους χώρους και στόχο.</a:t>
            </a:r>
          </a:p>
          <a:p>
            <a:pPr marL="457200" indent="-457200">
              <a:buFont typeface="+mj-lt"/>
              <a:buAutoNum type="arabicPeriod"/>
            </a:pPr>
            <a:r>
              <a:rPr lang="el-GR" sz="1800" dirty="0"/>
              <a:t>Ο πράκτορας (το ρομπότ) ξεκινάει από τη θέση (0, 0) και τελικά, φτάνει στην θέση </a:t>
            </a:r>
            <a:r>
              <a:rPr lang="en-US" sz="1800" dirty="0"/>
              <a:t>(N, N)</a:t>
            </a:r>
            <a:r>
              <a:rPr lang="el-GR" sz="1800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l-GR" sz="1800" dirty="0"/>
              <a:t>Εκπαιδεύεται με Q-learning: μαθαίνει ποια κατεύθυνση να επιλέγει από κάθε κελί, βάσει ανταμοιβής.</a:t>
            </a:r>
          </a:p>
          <a:p>
            <a:pPr marL="457200" indent="-457200">
              <a:buFont typeface="+mj-lt"/>
              <a:buAutoNum type="arabicPeriod"/>
            </a:pPr>
            <a:r>
              <a:rPr lang="el-GR" sz="1800" dirty="0"/>
              <a:t>Ο πίνακας Q ενημερώνεται δυναμικά καθώς κινείται στο πλέγμα.</a:t>
            </a:r>
          </a:p>
          <a:p>
            <a:pPr marL="457200" indent="-457200">
              <a:buFont typeface="+mj-lt"/>
              <a:buAutoNum type="arabicPeriod"/>
            </a:pPr>
            <a:r>
              <a:rPr lang="el-GR" sz="1800" dirty="0"/>
              <a:t>Το Κυψελιδωτό Αυτόματο (CA) καταγράφει τις επισκέψεις κάθε κελιού και ενισχύει τη δραστηριότητα στους γείτονες.</a:t>
            </a:r>
          </a:p>
          <a:p>
            <a:pPr marL="457200" indent="-457200">
              <a:buFont typeface="+mj-lt"/>
              <a:buAutoNum type="arabicPeriod"/>
            </a:pPr>
            <a:r>
              <a:rPr lang="el-GR" sz="1800" dirty="0"/>
              <a:t>Προσομοίωση γίνεται σε πραγματικό χρόνο μέσω </a:t>
            </a:r>
            <a:r>
              <a:rPr lang="el-GR" sz="1800" dirty="0" err="1"/>
              <a:t>pygame</a:t>
            </a:r>
            <a:r>
              <a:rPr lang="el-GR" sz="1800" dirty="0"/>
              <a:t>.</a:t>
            </a:r>
          </a:p>
        </p:txBody>
      </p:sp>
      <p:graphicFrame>
        <p:nvGraphicFramePr>
          <p:cNvPr id="6" name="Διάγραμμα 5">
            <a:extLst>
              <a:ext uri="{FF2B5EF4-FFF2-40B4-BE49-F238E27FC236}">
                <a16:creationId xmlns:a16="http://schemas.microsoft.com/office/drawing/2014/main" id="{13219517-FA87-5029-F14B-45A67A9A1B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42909348"/>
              </p:ext>
            </p:extLst>
          </p:nvPr>
        </p:nvGraphicFramePr>
        <p:xfrm>
          <a:off x="6596714" y="1656735"/>
          <a:ext cx="4061454" cy="42917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Βέλος: Αριστερό 6" descr="επιλέγει ενέργεια με Q-learning">
            <a:extLst>
              <a:ext uri="{FF2B5EF4-FFF2-40B4-BE49-F238E27FC236}">
                <a16:creationId xmlns:a16="http://schemas.microsoft.com/office/drawing/2014/main" id="{4A3EA9BD-D35D-B034-F0F3-FB0CDE25510F}"/>
              </a:ext>
            </a:extLst>
          </p:cNvPr>
          <p:cNvSpPr/>
          <p:nvPr/>
        </p:nvSpPr>
        <p:spPr>
          <a:xfrm>
            <a:off x="10658168" y="2954592"/>
            <a:ext cx="1533832" cy="599768"/>
          </a:xfrm>
          <a:prstGeom prst="leftArrow">
            <a:avLst/>
          </a:prstGeom>
          <a:solidFill>
            <a:schemeClr val="bg1">
              <a:lumMod val="65000"/>
            </a:schemeClr>
          </a:solidFill>
          <a:ln w="12700" cap="flat" cmpd="sng" algn="ctr">
            <a:solidFill>
              <a:schemeClr val="bg1">
                <a:lumMod val="65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1100" dirty="0">
                <a:solidFill>
                  <a:schemeClr val="tx1"/>
                </a:solidFill>
              </a:rPr>
              <a:t>επιλέγει ενέργεια με </a:t>
            </a:r>
            <a:r>
              <a:rPr lang="en-US" sz="1100" dirty="0">
                <a:solidFill>
                  <a:schemeClr val="tx1"/>
                </a:solidFill>
              </a:rPr>
              <a:t>Q-learning</a:t>
            </a:r>
            <a:endParaRPr lang="el-GR" sz="1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76209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A19DA2-D052-91A3-4200-EFB06E45D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578EB459-3385-4BF6-A9E1-154CBA251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7F9B272D-6B4D-5098-814E-F9177D9C8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51" y="789433"/>
            <a:ext cx="5892097" cy="1316736"/>
          </a:xfrm>
        </p:spPr>
        <p:txBody>
          <a:bodyPr>
            <a:normAutofit/>
          </a:bodyPr>
          <a:lstStyle/>
          <a:p>
            <a:r>
              <a:rPr lang="el-GR" cap="none" dirty="0">
                <a:latin typeface="+mn-lt"/>
                <a:cs typeface="Times New Roman" panose="02020603050405020304" pitchFamily="18" charset="0"/>
              </a:rPr>
              <a:t>Πρώτη προσέγγιση κώδικα </a:t>
            </a:r>
            <a:r>
              <a:rPr lang="en-US" i="1" cap="none" dirty="0">
                <a:latin typeface="+mn-lt"/>
                <a:cs typeface="Times New Roman" panose="02020603050405020304" pitchFamily="18" charset="0"/>
              </a:rPr>
              <a:t>final.py</a:t>
            </a:r>
            <a:endParaRPr lang="el-GR" i="1" dirty="0">
              <a:latin typeface="+mn-lt"/>
              <a:cs typeface="Times New Roman" panose="02020603050405020304" pitchFamily="18" charset="0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CA168A3-FD15-4AAC-9FDF-8C058A028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5715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5DDC77EC-F44F-DC25-0A2E-F9538C3E33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948" y="2169517"/>
            <a:ext cx="6544979" cy="4111027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l-GR" dirty="0"/>
              <a:t>Τι κάνει ο κώδικας: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l-GR" dirty="0"/>
              <a:t>Εκπαίδευση πράκτορα με Q-learning σε πλέγμα 10x10.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l-GR" dirty="0"/>
              <a:t>Χρήση matplotlib για οπτικοποίηση της τελικής διαδρομής.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l-GR" dirty="0"/>
              <a:t>Χωρίς γραφικό περιβάλλον (όχι real-time simulation).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l-GR" dirty="0"/>
              <a:t>++ Τα θετικά του κώδικα, είναι ότι είναι απλός</a:t>
            </a:r>
            <a:r>
              <a:rPr lang="en-US" dirty="0"/>
              <a:t>, </a:t>
            </a:r>
            <a:r>
              <a:rPr lang="el-GR" dirty="0"/>
              <a:t>αξιόπιστος και έχει σταθερή συμπεριφορά σε πολλές εκτελέσεις.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l-GR" dirty="0"/>
              <a:t>--  Ωστόσο, οι περιορισμοί, είναι ότι η προσομοίωση γίνεται μετά την εκπαίδευση (όχι ζωντανά), δεν παρέχει πλήρη εικόνα για τη διαδικασία μάθησης και επίσης, δεν αξιοποιεί CA για στρατηγική — μόνο για οπτική χαρτογράφηση.</a:t>
            </a:r>
          </a:p>
        </p:txBody>
      </p:sp>
      <p:pic>
        <p:nvPicPr>
          <p:cNvPr id="8" name="Εικόνα 7">
            <a:extLst>
              <a:ext uri="{FF2B5EF4-FFF2-40B4-BE49-F238E27FC236}">
                <a16:creationId xmlns:a16="http://schemas.microsoft.com/office/drawing/2014/main" id="{F43DC2B6-37CC-62D9-35A8-DCDA734AC8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47" t="10395" r="6209" b="9492"/>
          <a:stretch>
            <a:fillRect/>
          </a:stretch>
        </p:blipFill>
        <p:spPr>
          <a:xfrm>
            <a:off x="7009086" y="4151823"/>
            <a:ext cx="2594355" cy="2128721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C7C108B-6977-4FF2-B463-D8370F3EBB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5715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Εικόνα 9">
            <a:extLst>
              <a:ext uri="{FF2B5EF4-FFF2-40B4-BE49-F238E27FC236}">
                <a16:creationId xmlns:a16="http://schemas.microsoft.com/office/drawing/2014/main" id="{D190E5CD-BC8C-3406-F2B6-1D47EDEC15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0656" y="399403"/>
            <a:ext cx="3425570" cy="3653940"/>
          </a:xfrm>
          <a:prstGeom prst="rect">
            <a:avLst/>
          </a:prstGeom>
        </p:spPr>
      </p:pic>
      <p:pic>
        <p:nvPicPr>
          <p:cNvPr id="6" name="Εικόνα 5">
            <a:extLst>
              <a:ext uri="{FF2B5EF4-FFF2-40B4-BE49-F238E27FC236}">
                <a16:creationId xmlns:a16="http://schemas.microsoft.com/office/drawing/2014/main" id="{08FC8BF0-FAA2-643F-3560-FE88CE4837A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877" t="6980" r="11014" b="13075"/>
          <a:stretch>
            <a:fillRect/>
          </a:stretch>
        </p:blipFill>
        <p:spPr>
          <a:xfrm>
            <a:off x="9753600" y="4151823"/>
            <a:ext cx="2124453" cy="2128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0330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87B43B-D9A8-BDE8-A217-D9F5628C8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2634ED07-4390-30AE-040E-16D532105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568" y="271232"/>
            <a:ext cx="4453235" cy="239068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l-GR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Δεύτερη προσέγγιση κώδικα </a:t>
            </a:r>
            <a:r>
              <a:rPr lang="en-US" i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</a:t>
            </a:r>
            <a:r>
              <a:rPr lang="el-GR" i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i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livelearn.py</a:t>
            </a:r>
            <a:endParaRPr lang="el-GR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Εικόνα 4">
            <a:extLst>
              <a:ext uri="{FF2B5EF4-FFF2-40B4-BE49-F238E27FC236}">
                <a16:creationId xmlns:a16="http://schemas.microsoft.com/office/drawing/2014/main" id="{22C21B15-A977-EB93-2867-77ECCE09D1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822" y="2088386"/>
            <a:ext cx="4242696" cy="4459229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0ADC89C-EB4E-4AA5-ABBD-448BEC5FA3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255110" y="723900"/>
            <a:ext cx="0" cy="544948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E9081710-A84C-2E6F-5359-1920D1729F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625" y="393291"/>
            <a:ext cx="6224804" cy="6292644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l-GR" sz="1800" dirty="0"/>
              <a:t>Κύρια αλλαγή: πλέον γίνεται </a:t>
            </a:r>
            <a:r>
              <a:rPr lang="el-GR" sz="1800" dirty="0" err="1"/>
              <a:t>Online</a:t>
            </a:r>
            <a:r>
              <a:rPr lang="el-GR" sz="1800" dirty="0"/>
              <a:t> μάθηση σε πραγματικό χρόνο.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l-GR" sz="1800" dirty="0"/>
              <a:t>Τι προσθέσαμε:</a:t>
            </a:r>
          </a:p>
          <a:p>
            <a:pPr>
              <a:lnSpc>
                <a:spcPct val="100000"/>
              </a:lnSpc>
            </a:pPr>
            <a:r>
              <a:rPr lang="el-GR" sz="1800" dirty="0"/>
              <a:t>Εκπαίδευση του πράκτορα γίνεται ζωντανά κατά την πλοήγηση.</a:t>
            </a:r>
          </a:p>
          <a:p>
            <a:pPr>
              <a:lnSpc>
                <a:spcPct val="100000"/>
              </a:lnSpc>
            </a:pPr>
            <a:r>
              <a:rPr lang="el-GR" sz="1800" dirty="0"/>
              <a:t>Χρήση </a:t>
            </a:r>
            <a:r>
              <a:rPr lang="el-GR" sz="1800" dirty="0" err="1"/>
              <a:t>pygame</a:t>
            </a:r>
            <a:r>
              <a:rPr lang="el-GR" sz="1800" dirty="0"/>
              <a:t> για </a:t>
            </a:r>
            <a:r>
              <a:rPr lang="el-GR" sz="1800" dirty="0" err="1"/>
              <a:t>animation</a:t>
            </a:r>
            <a:r>
              <a:rPr lang="el-GR" sz="1800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l-GR" sz="1800" dirty="0"/>
              <a:t>Σκεπτικό μετάβασης: </a:t>
            </a:r>
          </a:p>
          <a:p>
            <a:pPr lvl="1">
              <a:lnSpc>
                <a:spcPct val="100000"/>
              </a:lnSpc>
            </a:pPr>
            <a:r>
              <a:rPr lang="el-GR" dirty="0"/>
              <a:t>Θέλαμε να βλέπουμε πώς μαθαίνει το ρομπότ, όχι μόνο το αποτέλεσμα.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l-GR" sz="1800" dirty="0"/>
              <a:t>Προβλήματα:</a:t>
            </a:r>
          </a:p>
          <a:p>
            <a:pPr lvl="1">
              <a:lnSpc>
                <a:spcPct val="100000"/>
              </a:lnSpc>
            </a:pPr>
            <a:r>
              <a:rPr lang="el-GR" dirty="0"/>
              <a:t>Δεν υπήρχε σταθερό </a:t>
            </a:r>
            <a:r>
              <a:rPr lang="el-GR" dirty="0" err="1"/>
              <a:t>convergence</a:t>
            </a:r>
            <a:r>
              <a:rPr lang="el-GR" dirty="0"/>
              <a:t>.</a:t>
            </a:r>
          </a:p>
          <a:p>
            <a:pPr lvl="1">
              <a:lnSpc>
                <a:spcPct val="100000"/>
              </a:lnSpc>
            </a:pPr>
            <a:r>
              <a:rPr lang="el-GR" dirty="0"/>
              <a:t>Παρατηρήθηκε χαμηλή απόδοση </a:t>
            </a:r>
            <a:r>
              <a:rPr lang="el-GR" dirty="0">
                <a:sym typeface="Wingdings" panose="05000000000000000000" pitchFamily="2" charset="2"/>
              </a:rPr>
              <a:t> σ</a:t>
            </a:r>
            <a:r>
              <a:rPr lang="el-GR" dirty="0"/>
              <a:t>υχνά επαναλαμβανόμενες/άστοχες κινήσεις.</a:t>
            </a:r>
          </a:p>
          <a:p>
            <a:pPr lvl="1">
              <a:lnSpc>
                <a:spcPct val="100000"/>
              </a:lnSpc>
            </a:pPr>
            <a:r>
              <a:rPr lang="el-GR" dirty="0"/>
              <a:t>Δεν υπήρχαν </a:t>
            </a:r>
            <a:r>
              <a:rPr lang="el-GR" dirty="0" err="1"/>
              <a:t>heatmaps</a:t>
            </a:r>
            <a:r>
              <a:rPr lang="el-GR" dirty="0"/>
              <a:t> /καθαρά στατιστικά.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l-GR" sz="1800" dirty="0"/>
              <a:t>Τι μάθαμε:</a:t>
            </a:r>
          </a:p>
          <a:p>
            <a:pPr>
              <a:lnSpc>
                <a:spcPct val="100000"/>
              </a:lnSpc>
            </a:pPr>
            <a:r>
              <a:rPr lang="el-GR" sz="1800" dirty="0"/>
              <a:t>Χρειαζόταν καλύτερη οργάνωση κώδικα.</a:t>
            </a:r>
          </a:p>
          <a:p>
            <a:pPr>
              <a:lnSpc>
                <a:spcPct val="100000"/>
              </a:lnSpc>
            </a:pPr>
            <a:r>
              <a:rPr lang="el-GR" sz="1800" dirty="0"/>
              <a:t>Η </a:t>
            </a:r>
            <a:r>
              <a:rPr lang="el-GR" sz="1800" dirty="0" err="1"/>
              <a:t>online</a:t>
            </a:r>
            <a:r>
              <a:rPr lang="el-GR" sz="1800" dirty="0"/>
              <a:t> μάθηση χωρίς περιορισμούς οδηγεί σε αστάθεια.</a:t>
            </a:r>
          </a:p>
        </p:txBody>
      </p:sp>
    </p:spTree>
    <p:extLst>
      <p:ext uri="{BB962C8B-B14F-4D97-AF65-F5344CB8AC3E}">
        <p14:creationId xmlns:p14="http://schemas.microsoft.com/office/powerpoint/2010/main" val="26693547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71E7E-F048-3557-2CB4-3A444F44A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FDF80D0A-F4E2-DB97-4C99-CCDB3B8DD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875071"/>
          </a:xfrm>
        </p:spPr>
        <p:txBody>
          <a:bodyPr/>
          <a:lstStyle/>
          <a:p>
            <a:pPr algn="ctr"/>
            <a:r>
              <a:rPr lang="el-GR" cap="none" dirty="0">
                <a:latin typeface="+mn-lt"/>
                <a:cs typeface="Times New Roman" panose="02020603050405020304" pitchFamily="18" charset="0"/>
              </a:rPr>
              <a:t>Τελικός κώδικας: Κυψελιδωτό αυτόματο.</a:t>
            </a:r>
            <a:r>
              <a:rPr lang="en-US" cap="none" dirty="0" err="1">
                <a:latin typeface="+mn-lt"/>
                <a:cs typeface="Times New Roman" panose="02020603050405020304" pitchFamily="18" charset="0"/>
              </a:rPr>
              <a:t>py</a:t>
            </a:r>
            <a:endParaRPr lang="el-GR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DB3A7E7D-7AC1-AA5F-A917-951FDB7E2E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00635" y="1688862"/>
            <a:ext cx="11169445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l-GR" altLang="el-GR" i="1" dirty="0"/>
              <a:t>	Με αφορμή, τα μειονεκτήματα που είχαν οι προηγούμενοι κώδικες, κληθήκαμε να υλοποιήσουμε έναν κώδικα, ο οποίος καλύπτει πλήρως τα ζητούμενα της εργασίας.</a:t>
            </a:r>
            <a:endParaRPr kumimoji="0" lang="el-GR" altLang="el-GR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l-GR" altLang="el-G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Τι περιλαμβάνει</a:t>
            </a:r>
            <a:r>
              <a:rPr lang="el-GR" altLang="el-GR" dirty="0"/>
              <a:t> (τα κύρια στοιχεία)</a:t>
            </a:r>
            <a:r>
              <a:rPr kumimoji="0" lang="el-GR" altLang="el-G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l-GR" altLang="el-G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Πλήρης ορισμός κελιών και ενεργειών (μέσω </a:t>
            </a:r>
            <a:r>
              <a:rPr kumimoji="0" lang="el-GR" altLang="el-GR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Enum</a:t>
            </a:r>
            <a:r>
              <a:rPr kumimoji="0" lang="el-GR" altLang="el-G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και </a:t>
            </a:r>
            <a:r>
              <a:rPr kumimoji="0" lang="el-GR" altLang="el-GR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Cell</a:t>
            </a:r>
            <a:r>
              <a:rPr kumimoji="0" lang="el-GR" altLang="el-G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κλάσης).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l-GR" altLang="el-GR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Grid</a:t>
            </a:r>
            <a:r>
              <a:rPr kumimoji="0" lang="el-GR" altLang="el-G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lang="el-GR" altLang="el-GR" dirty="0"/>
              <a:t>(30</a:t>
            </a:r>
            <a:r>
              <a:rPr lang="en-US" altLang="el-GR" dirty="0"/>
              <a:t>x30</a:t>
            </a:r>
            <a:r>
              <a:rPr lang="el-GR" altLang="el-GR" dirty="0"/>
              <a:t>)</a:t>
            </a:r>
            <a:r>
              <a:rPr kumimoji="0" lang="el-GR" altLang="el-G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ως ΚΑ που: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el-GR" altLang="el-G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Καταγράφει επισκέψεις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el-GR" altLang="el-G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Ενημερώνει Q-</a:t>
            </a:r>
            <a:r>
              <a:rPr kumimoji="0" lang="el-GR" altLang="el-G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values</a:t>
            </a:r>
            <a:endParaRPr kumimoji="0" lang="el-GR" altLang="el-GR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el-GR" altLang="el-G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Διαχέει δραστηριότητα στους γείτονες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l-GR" altLang="el-G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Η εκπαίδευση γίνεται με </a:t>
            </a:r>
            <a:r>
              <a:rPr kumimoji="0" lang="el-GR" altLang="el-GR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εψιλον-decay</a:t>
            </a:r>
            <a:r>
              <a:rPr kumimoji="0" lang="el-GR" altLang="el-G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l-GR" altLang="el-G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reward</a:t>
            </a:r>
            <a:r>
              <a:rPr kumimoji="0" lang="el-GR" altLang="el-G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/</a:t>
            </a:r>
            <a:r>
              <a:rPr kumimoji="0" lang="el-GR" altLang="el-G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penalty</a:t>
            </a:r>
            <a:r>
              <a:rPr kumimoji="0" lang="el-GR" altLang="el-G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και </a:t>
            </a:r>
            <a:r>
              <a:rPr kumimoji="0" lang="el-GR" altLang="el-GR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heatmaps</a:t>
            </a:r>
            <a:r>
              <a:rPr kumimoji="0" lang="el-GR" altLang="el-G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(θα υπάρξει επεξήγηση των όρων αυτών).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l-GR" altLang="el-G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Εξαγωγή στατιστικών και οπτικοποίηση.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l-GR" altLang="el-G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Καινοτομία: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l-GR" altLang="el-G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Κάθε κελί είναι "έξυπνο" (κρατά Q-</a:t>
            </a:r>
            <a:r>
              <a:rPr kumimoji="0" lang="el-GR" altLang="el-GR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values</a:t>
            </a:r>
            <a:r>
              <a:rPr kumimoji="0" lang="el-GR" altLang="el-G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επισκέψεις, </a:t>
            </a:r>
            <a:r>
              <a:rPr kumimoji="0" lang="el-GR" altLang="el-GR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φερομόνες</a:t>
            </a:r>
            <a:r>
              <a:rPr kumimoji="0" lang="el-GR" altLang="el-G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l-GR" altLang="el-G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Συνδυασμός ενισχυτικής μάθησης + CA σε κάθε βήμα.</a:t>
            </a:r>
          </a:p>
        </p:txBody>
      </p:sp>
    </p:spTree>
    <p:extLst>
      <p:ext uri="{BB962C8B-B14F-4D97-AF65-F5344CB8AC3E}">
        <p14:creationId xmlns:p14="http://schemas.microsoft.com/office/powerpoint/2010/main" val="9440900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7AA616-AB33-D799-C578-4FB0D6010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5D4F65E0-6F6A-39FF-6A8D-605875F7F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8" y="909637"/>
            <a:ext cx="6400800" cy="130759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l-GR" cap="none" dirty="0">
                <a:latin typeface="+mn-lt"/>
                <a:cs typeface="Times New Roman" panose="02020603050405020304" pitchFamily="18" charset="0"/>
              </a:rPr>
              <a:t>Ανταμοιβές &amp; Παράμετροι Μάθησης</a:t>
            </a:r>
            <a:endParaRPr lang="el-GR">
              <a:latin typeface="+mn-lt"/>
              <a:cs typeface="Times New Roman" panose="02020603050405020304" pitchFamily="18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813B4C-6731-0B72-5252-A79AB0E20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9">
            <a:extLst>
              <a:ext uri="{FF2B5EF4-FFF2-40B4-BE49-F238E27FC236}">
                <a16:creationId xmlns:a16="http://schemas.microsoft.com/office/drawing/2014/main" id="{6D8421BE-8154-5943-8E7C-A5FC9FC3E1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00088" y="2221992"/>
            <a:ext cx="6400800" cy="373989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2400" dirty="0"/>
              <a:t>Reward / Penalty:</a:t>
            </a:r>
            <a:endParaRPr lang="el-GR" sz="2400" dirty="0"/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l-GR" sz="2400" dirty="0" err="1"/>
              <a:t>g</a:t>
            </a:r>
            <a:r>
              <a:rPr kumimoji="0" lang="en-US" altLang="el-GR" sz="2400" i="0" u="none" strike="noStrike" cap="none" normalizeH="0" baseline="0" dirty="0" err="1">
                <a:ln>
                  <a:noFill/>
                </a:ln>
                <a:effectLst/>
              </a:rPr>
              <a:t>oal_reward</a:t>
            </a:r>
            <a:r>
              <a:rPr kumimoji="0" lang="en-US" altLang="el-GR" sz="2400" i="0" u="none" strike="noStrike" cap="none" normalizeH="0" baseline="0" dirty="0">
                <a:ln>
                  <a:noFill/>
                </a:ln>
                <a:effectLst/>
              </a:rPr>
              <a:t>: </a:t>
            </a:r>
            <a:r>
              <a:rPr kumimoji="0" lang="el-GR" altLang="el-GR" sz="2400" i="0" u="none" strike="noStrike" cap="none" normalizeH="0" baseline="0" dirty="0">
                <a:ln>
                  <a:noFill/>
                </a:ln>
                <a:effectLst/>
              </a:rPr>
              <a:t>+100 όταν φτάνει στον στόχο.</a:t>
            </a:r>
            <a:endParaRPr lang="en-US" altLang="el-GR" sz="2400" dirty="0"/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l-GR" sz="2400" dirty="0" err="1"/>
              <a:t>obstacle_penalty</a:t>
            </a:r>
            <a:r>
              <a:rPr lang="en-US" altLang="el-GR" sz="2400" dirty="0"/>
              <a:t>: -</a:t>
            </a:r>
            <a:r>
              <a:rPr kumimoji="0" lang="el-GR" altLang="el-GR" sz="2400" i="0" u="none" strike="noStrike" cap="none" normalizeH="0" baseline="0" dirty="0">
                <a:ln>
                  <a:noFill/>
                </a:ln>
                <a:effectLst/>
              </a:rPr>
              <a:t>10 για σύγκρουση με εμπόδιο.</a:t>
            </a:r>
            <a:endParaRPr kumimoji="0" lang="en-US" altLang="el-GR" sz="2400" i="0" u="none" strike="noStrike" cap="none" normalizeH="0" baseline="0" dirty="0">
              <a:ln>
                <a:noFill/>
              </a:ln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l-GR" sz="2400" dirty="0" err="1"/>
              <a:t>step_penalty</a:t>
            </a:r>
            <a:r>
              <a:rPr lang="en-US" altLang="el-GR" sz="2400" dirty="0"/>
              <a:t>: -0.1</a:t>
            </a:r>
            <a:r>
              <a:rPr kumimoji="0" lang="el-GR" altLang="el-GR" sz="240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lang="el-GR" altLang="el-GR" sz="2400" dirty="0"/>
              <a:t>μικρή ποινή ανά βήμα </a:t>
            </a:r>
            <a:r>
              <a:rPr kumimoji="0" lang="el-GR" altLang="el-GR" sz="2400" i="0" u="none" strike="noStrike" cap="none" normalizeH="0" baseline="0" dirty="0">
                <a:ln>
                  <a:noFill/>
                </a:ln>
                <a:effectLst/>
              </a:rPr>
              <a:t>(ενθαρρύνει σύντομες διαδρομές).</a:t>
            </a:r>
            <a:endParaRPr kumimoji="0" lang="en-US" altLang="el-GR" sz="2400" i="0" u="none" strike="noStrike" cap="none" normalizeH="0" baseline="0" dirty="0">
              <a:ln>
                <a:noFill/>
              </a:ln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l-GR" sz="2400" dirty="0" err="1"/>
              <a:t>Visited_penalty</a:t>
            </a:r>
            <a:r>
              <a:rPr lang="en-US" altLang="el-GR" sz="2400" dirty="0"/>
              <a:t>: -0.5 </a:t>
            </a:r>
            <a:r>
              <a:rPr lang="el-GR" altLang="el-GR" sz="2400" dirty="0"/>
              <a:t>ποινή για επανάληψη σε ήδη επισκεπτόμενο κελί.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kumimoji="0" lang="el-GR" altLang="el-GR" i="0" u="none" strike="noStrike" cap="none" normalizeH="0" baseline="0" dirty="0">
              <a:ln>
                <a:noFill/>
              </a:ln>
              <a:effectLst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E0E8146-6E65-2E6C-0C86-547E3C925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Πίνακας 3">
            <a:extLst>
              <a:ext uri="{FF2B5EF4-FFF2-40B4-BE49-F238E27FC236}">
                <a16:creationId xmlns:a16="http://schemas.microsoft.com/office/drawing/2014/main" id="{69664C9C-2C9D-B3F9-A9AC-1DDC56DC93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2759910"/>
              </p:ext>
            </p:extLst>
          </p:nvPr>
        </p:nvGraphicFramePr>
        <p:xfrm>
          <a:off x="7487920" y="1820899"/>
          <a:ext cx="4241965" cy="392114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326680">
                  <a:extLst>
                    <a:ext uri="{9D8B030D-6E8A-4147-A177-3AD203B41FA5}">
                      <a16:colId xmlns:a16="http://schemas.microsoft.com/office/drawing/2014/main" val="1300353067"/>
                    </a:ext>
                  </a:extLst>
                </a:gridCol>
                <a:gridCol w="1657534">
                  <a:extLst>
                    <a:ext uri="{9D8B030D-6E8A-4147-A177-3AD203B41FA5}">
                      <a16:colId xmlns:a16="http://schemas.microsoft.com/office/drawing/2014/main" val="1461027689"/>
                    </a:ext>
                  </a:extLst>
                </a:gridCol>
                <a:gridCol w="1257751">
                  <a:extLst>
                    <a:ext uri="{9D8B030D-6E8A-4147-A177-3AD203B41FA5}">
                      <a16:colId xmlns:a16="http://schemas.microsoft.com/office/drawing/2014/main" val="2534007059"/>
                    </a:ext>
                  </a:extLst>
                </a:gridCol>
              </a:tblGrid>
              <a:tr h="485475">
                <a:tc>
                  <a:txBody>
                    <a:bodyPr/>
                    <a:lstStyle/>
                    <a:p>
                      <a:r>
                        <a:rPr lang="el-GR" sz="1200" b="1">
                          <a:solidFill>
                            <a:srgbClr val="FFFFFF"/>
                          </a:solidFill>
                        </a:rPr>
                        <a:t>Παράμετρος</a:t>
                      </a:r>
                    </a:p>
                  </a:txBody>
                  <a:tcPr marL="166088" marR="99653" marT="99653" marB="99653" anchor="ctr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l-GR" sz="1200" b="1">
                          <a:solidFill>
                            <a:srgbClr val="FFFFFF"/>
                          </a:solidFill>
                        </a:rPr>
                        <a:t>Τι κάνει</a:t>
                      </a:r>
                    </a:p>
                  </a:txBody>
                  <a:tcPr marL="166088" marR="99653" marT="99653" marB="9965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l-GR" sz="1200" b="1">
                          <a:solidFill>
                            <a:srgbClr val="FFFFFF"/>
                          </a:solidFill>
                        </a:rPr>
                        <a:t>Τιμή</a:t>
                      </a:r>
                    </a:p>
                  </a:txBody>
                  <a:tcPr marL="166088" marR="99653" marT="99653" marB="9965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6017972"/>
                  </a:ext>
                </a:extLst>
              </a:tr>
              <a:tr h="912265"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Alpha (</a:t>
                      </a:r>
                      <a:r>
                        <a:rPr lang="el-GR" sz="12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α)</a:t>
                      </a:r>
                      <a:endParaRPr lang="el-GR" sz="12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66088" marR="99653" marT="99653" marB="99653" anchor="ctr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l-G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Ρυθμός μάθησης – πόσο επηρεάζει το νέο από το παλιό</a:t>
                      </a:r>
                    </a:p>
                  </a:txBody>
                  <a:tcPr marL="166088" marR="99653" marT="99653" marB="9965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l-GR" sz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0.1</a:t>
                      </a:r>
                    </a:p>
                  </a:txBody>
                  <a:tcPr marL="166088" marR="99653" marT="99653" marB="9965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4181801"/>
                  </a:ext>
                </a:extLst>
              </a:tr>
              <a:tr h="912265"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Gamma (</a:t>
                      </a:r>
                      <a:r>
                        <a:rPr lang="el-GR" sz="12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γ)</a:t>
                      </a:r>
                      <a:endParaRPr lang="el-GR" sz="12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66088" marR="99653" marT="99653" marB="99653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l-GR" sz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Προεξόφληση μελλοντικών ανταμοιβών</a:t>
                      </a:r>
                    </a:p>
                  </a:txBody>
                  <a:tcPr marL="166088" marR="99653" marT="99653" marB="9965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l-GR" sz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0.9</a:t>
                      </a:r>
                    </a:p>
                  </a:txBody>
                  <a:tcPr marL="166088" marR="99653" marT="99653" marB="9965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327363"/>
                  </a:ext>
                </a:extLst>
              </a:tr>
              <a:tr h="912265"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Epsilon (</a:t>
                      </a:r>
                      <a:r>
                        <a:rPr lang="el-GR" sz="12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ε)</a:t>
                      </a:r>
                      <a:endParaRPr lang="el-GR" sz="12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66088" marR="99653" marT="99653" marB="99653" anchor="ctr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l-G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Πιθανότητα τυχαίας ενέργειας (εξερεύνηση)</a:t>
                      </a:r>
                    </a:p>
                  </a:txBody>
                  <a:tcPr marL="166088" marR="99653" marT="99653" marB="9965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l-G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αρχικά 0.3</a:t>
                      </a:r>
                    </a:p>
                  </a:txBody>
                  <a:tcPr marL="166088" marR="99653" marT="99653" marB="9965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4305616"/>
                  </a:ext>
                </a:extLst>
              </a:tr>
              <a:tr h="698870"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Epsilon Decay</a:t>
                      </a:r>
                      <a:endParaRPr lang="en-US" sz="12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66088" marR="99653" marT="99653" marB="99653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l-GR" sz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Πτώση του ε σε κάθε επεισόδιο</a:t>
                      </a:r>
                    </a:p>
                  </a:txBody>
                  <a:tcPr marL="166088" marR="99653" marT="99653" marB="9965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l-GR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 × 0.995</a:t>
                      </a:r>
                    </a:p>
                  </a:txBody>
                  <a:tcPr marL="166088" marR="99653" marT="99653" marB="9965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491299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84EE749-3F21-ED4A-8F0C-951AD7675204}"/>
              </a:ext>
            </a:extLst>
          </p:cNvPr>
          <p:cNvSpPr txBox="1"/>
          <p:nvPr/>
        </p:nvSpPr>
        <p:spPr>
          <a:xfrm>
            <a:off x="7863809" y="907612"/>
            <a:ext cx="36281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2400" dirty="0"/>
              <a:t>Βασικές Παράμετροι </a:t>
            </a:r>
          </a:p>
          <a:p>
            <a:pPr algn="ctr"/>
            <a:r>
              <a:rPr lang="en-US" sz="2400" dirty="0"/>
              <a:t>Q-learning:</a:t>
            </a:r>
            <a:endParaRPr lang="el-GR" sz="2400" dirty="0"/>
          </a:p>
        </p:txBody>
      </p:sp>
    </p:spTree>
    <p:extLst>
      <p:ext uri="{BB962C8B-B14F-4D97-AF65-F5344CB8AC3E}">
        <p14:creationId xmlns:p14="http://schemas.microsoft.com/office/powerpoint/2010/main" val="5815071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8B5A59-081B-A39C-F24A-3A8790DEC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047E4EC6-30F1-40AC-10F1-97F75C40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780776" cy="1180210"/>
          </a:xfrm>
        </p:spPr>
        <p:txBody>
          <a:bodyPr>
            <a:normAutofit/>
          </a:bodyPr>
          <a:lstStyle/>
          <a:p>
            <a:r>
              <a:rPr lang="en-US" cap="none" dirty="0">
                <a:latin typeface="+mn-lt"/>
                <a:cs typeface="Times New Roman" panose="02020603050405020304" pitchFamily="18" charset="0"/>
              </a:rPr>
              <a:t>Visual Interface &amp; </a:t>
            </a:r>
            <a:r>
              <a:rPr lang="el-GR" cap="none" dirty="0">
                <a:latin typeface="+mn-lt"/>
                <a:cs typeface="Times New Roman" panose="02020603050405020304" pitchFamily="18" charset="0"/>
              </a:rPr>
              <a:t>Ανάλυση</a:t>
            </a:r>
            <a:endParaRPr lang="el-GR">
              <a:latin typeface="+mn-lt"/>
              <a:cs typeface="Times New Roman" panose="02020603050405020304" pitchFamily="18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E495065-8864-87FB-2BCC-254769963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Εικόνα 3">
            <a:extLst>
              <a:ext uri="{FF2B5EF4-FFF2-40B4-BE49-F238E27FC236}">
                <a16:creationId xmlns:a16="http://schemas.microsoft.com/office/drawing/2014/main" id="{1503E7EF-2637-7944-2C3D-866103EC1E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1706"/>
          <a:stretch>
            <a:fillRect/>
          </a:stretch>
        </p:blipFill>
        <p:spPr>
          <a:xfrm>
            <a:off x="407661" y="1940561"/>
            <a:ext cx="5365066" cy="4222494"/>
          </a:xfrm>
          <a:prstGeom prst="rect">
            <a:avLst/>
          </a:prstGeom>
        </p:spPr>
      </p:pic>
      <p:sp>
        <p:nvSpPr>
          <p:cNvPr id="12" name="Rectangle 9">
            <a:extLst>
              <a:ext uri="{FF2B5EF4-FFF2-40B4-BE49-F238E27FC236}">
                <a16:creationId xmlns:a16="http://schemas.microsoft.com/office/drawing/2014/main" id="{70CCC332-D7BF-83AF-7DC3-24DA2A5E847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69153" y="1767841"/>
            <a:ext cx="5712137" cy="4775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l-GR" altLang="el-GR" sz="2400" b="1" dirty="0"/>
              <a:t>GUI (μέσω </a:t>
            </a:r>
            <a:r>
              <a:rPr lang="el-GR" altLang="el-GR" sz="2400" b="1" dirty="0" err="1"/>
              <a:t>pygame</a:t>
            </a:r>
            <a:r>
              <a:rPr lang="el-GR" altLang="el-GR" sz="2400" b="1" dirty="0"/>
              <a:t>):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l-GR" altLang="el-GR" sz="2400" dirty="0"/>
              <a:t>Ζωντανό </a:t>
            </a:r>
            <a:r>
              <a:rPr lang="el-GR" altLang="el-GR" sz="2400" dirty="0" err="1"/>
              <a:t>animation</a:t>
            </a:r>
            <a:r>
              <a:rPr lang="el-GR" altLang="el-GR" sz="2400" dirty="0"/>
              <a:t> ρομπότ σε περιβάλλον με εμπόδια.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l-GR" altLang="el-GR" sz="2400" dirty="0" err="1"/>
              <a:t>Zoom</a:t>
            </a:r>
            <a:r>
              <a:rPr lang="el-GR" altLang="el-GR" sz="2400" dirty="0"/>
              <a:t> </a:t>
            </a:r>
            <a:r>
              <a:rPr lang="el-GR" altLang="el-GR" sz="2400" dirty="0" err="1"/>
              <a:t>view</a:t>
            </a:r>
            <a:r>
              <a:rPr lang="el-GR" altLang="el-GR" sz="2400" dirty="0"/>
              <a:t> γύρω από το ρομπότ, με κέρσορα το ρομπότ.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l-GR" altLang="el-GR" sz="2400" dirty="0" err="1"/>
              <a:t>Sidebar</a:t>
            </a:r>
            <a:r>
              <a:rPr lang="el-GR" altLang="el-GR" sz="2400" dirty="0"/>
              <a:t> με πληροφορίες: Q-</a:t>
            </a:r>
            <a:r>
              <a:rPr lang="el-GR" altLang="el-GR" sz="2400" dirty="0" err="1"/>
              <a:t>values</a:t>
            </a:r>
            <a:r>
              <a:rPr lang="el-GR" altLang="el-GR" sz="2400" dirty="0"/>
              <a:t>, </a:t>
            </a:r>
            <a:r>
              <a:rPr lang="el-GR" altLang="el-GR" sz="2400" dirty="0" err="1"/>
              <a:t>position</a:t>
            </a:r>
            <a:r>
              <a:rPr lang="el-GR" altLang="el-GR" sz="2400" dirty="0"/>
              <a:t>, </a:t>
            </a:r>
            <a:r>
              <a:rPr lang="el-GR" altLang="el-GR" sz="2400" dirty="0" err="1"/>
              <a:t>visited</a:t>
            </a:r>
            <a:r>
              <a:rPr lang="el-GR" altLang="el-GR" sz="2400" dirty="0"/>
              <a:t> </a:t>
            </a:r>
            <a:r>
              <a:rPr lang="el-GR" altLang="el-GR" sz="2400" dirty="0" err="1"/>
              <a:t>cells</a:t>
            </a:r>
            <a:r>
              <a:rPr lang="el-GR" altLang="el-GR" sz="2400" dirty="0"/>
              <a:t>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l-GR" altLang="el-GR" sz="2400" dirty="0"/>
              <a:t>Πλεονεκτήματα: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l-GR" altLang="el-GR" sz="2400" dirty="0"/>
              <a:t>Παρακολουθούμε και τη μάθηση και το αποτέλεσμα.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l-GR" altLang="el-GR" sz="2400" dirty="0"/>
              <a:t>Πλήρης κατανόηση της συμπεριφοράς.</a:t>
            </a:r>
          </a:p>
        </p:txBody>
      </p:sp>
    </p:spTree>
    <p:extLst>
      <p:ext uri="{BB962C8B-B14F-4D97-AF65-F5344CB8AC3E}">
        <p14:creationId xmlns:p14="http://schemas.microsoft.com/office/powerpoint/2010/main" val="42540922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CDA9D6-E2DC-83E1-5DC9-835F1A228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0B1B7413-C53A-AC94-2A64-008C2EBB0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1132312" cy="118021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l-GR" sz="3700" cap="none" dirty="0">
                <a:latin typeface="+mn-lt"/>
                <a:cs typeface="Times New Roman" panose="02020603050405020304" pitchFamily="18" charset="0"/>
              </a:rPr>
              <a:t>Γραφική αναπαράσταση αποτελεσμάτων</a:t>
            </a:r>
            <a:r>
              <a:rPr lang="en-US" sz="3700" cap="none" dirty="0">
                <a:latin typeface="+mn-lt"/>
                <a:cs typeface="Times New Roman" panose="02020603050405020304" pitchFamily="18" charset="0"/>
              </a:rPr>
              <a:t> – </a:t>
            </a:r>
            <a:r>
              <a:rPr lang="el-GR" sz="3700" cap="none" dirty="0">
                <a:latin typeface="+mn-lt"/>
                <a:cs typeface="Times New Roman" panose="02020603050405020304" pitchFamily="18" charset="0"/>
              </a:rPr>
              <a:t>Δοκιμή 1</a:t>
            </a:r>
            <a:endParaRPr lang="el-GR" sz="3700" dirty="0">
              <a:latin typeface="+mn-lt"/>
              <a:cs typeface="Times New Roman" panose="02020603050405020304" pitchFamily="18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E495065-8864-87FB-2BCC-254769963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9">
            <a:extLst>
              <a:ext uri="{FF2B5EF4-FFF2-40B4-BE49-F238E27FC236}">
                <a16:creationId xmlns:a16="http://schemas.microsoft.com/office/drawing/2014/main" id="{474666A3-8C72-BFB2-81F6-385B23B6FC7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37680" y="154814"/>
            <a:ext cx="5181600" cy="75958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l-GR" i="1" dirty="0"/>
              <a:t>	</a:t>
            </a:r>
            <a:r>
              <a:rPr lang="el-GR" altLang="el-GR" i="1" dirty="0"/>
              <a:t>Έγιναν δοκιμές με διαφορετικές τιμές μεταβλητών: </a:t>
            </a:r>
            <a:r>
              <a:rPr lang="en-US" altLang="el-GR" i="1" dirty="0"/>
              <a:t>alpha, epsilon, gamma.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el-GR" altLang="el-G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4C29C6-BEB8-E918-0711-EAC27DF50F59}"/>
              </a:ext>
            </a:extLst>
          </p:cNvPr>
          <p:cNvSpPr txBox="1"/>
          <p:nvPr/>
        </p:nvSpPr>
        <p:spPr>
          <a:xfrm>
            <a:off x="9796076" y="2094610"/>
            <a:ext cx="2040324" cy="1308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l-GR" sz="1600" dirty="0"/>
              <a:t>Εικόνα 1. Δοκιμή με:</a:t>
            </a:r>
          </a:p>
          <a:p>
            <a:pPr marL="285750" indent="-285750" algn="ctr">
              <a:spcAft>
                <a:spcPts val="600"/>
              </a:spcAft>
              <a:buFontTx/>
              <a:buChar char="-"/>
            </a:pPr>
            <a:r>
              <a:rPr lang="en-US" sz="1600" dirty="0"/>
              <a:t>alpha = 0,15</a:t>
            </a:r>
          </a:p>
          <a:p>
            <a:pPr marL="285750" indent="-285750" algn="ctr">
              <a:spcAft>
                <a:spcPts val="600"/>
              </a:spcAft>
              <a:buFontTx/>
              <a:buChar char="-"/>
            </a:pPr>
            <a:r>
              <a:rPr lang="en-US" sz="1600" dirty="0"/>
              <a:t>epsilon = 0,5 </a:t>
            </a:r>
          </a:p>
          <a:p>
            <a:pPr marL="285750" indent="-285750" algn="ctr">
              <a:spcAft>
                <a:spcPts val="600"/>
              </a:spcAft>
              <a:buFontTx/>
              <a:buChar char="-"/>
            </a:pPr>
            <a:r>
              <a:rPr lang="en-US" sz="1600" dirty="0"/>
              <a:t>gamma = 0,9</a:t>
            </a:r>
            <a:endParaRPr lang="el-GR" sz="1600" dirty="0"/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E7F11740-C7A2-929D-4A11-047A5A45475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l-GR"/>
          </a:p>
        </p:txBody>
      </p:sp>
      <p:pic>
        <p:nvPicPr>
          <p:cNvPr id="8" name="Εικόνα 7">
            <a:extLst>
              <a:ext uri="{FF2B5EF4-FFF2-40B4-BE49-F238E27FC236}">
                <a16:creationId xmlns:a16="http://schemas.microsoft.com/office/drawing/2014/main" id="{83F5BBBF-D32E-F8DC-8737-14ACF93042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" y="1636776"/>
            <a:ext cx="8940800" cy="4759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5570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396A9-996C-18CF-40A7-56D215D30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83F0878B-17F8-D132-2149-B5CEC3743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1132312" cy="118021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l-GR" sz="3700" cap="none" dirty="0">
                <a:latin typeface="+mn-lt"/>
                <a:cs typeface="Times New Roman" panose="02020603050405020304" pitchFamily="18" charset="0"/>
              </a:rPr>
              <a:t>Γραφική αναπαράσταση αποτελεσμάτων</a:t>
            </a:r>
            <a:r>
              <a:rPr lang="en-US" sz="3700" cap="none" dirty="0">
                <a:latin typeface="+mn-lt"/>
                <a:cs typeface="Times New Roman" panose="02020603050405020304" pitchFamily="18" charset="0"/>
              </a:rPr>
              <a:t> – </a:t>
            </a:r>
            <a:r>
              <a:rPr lang="el-GR" sz="3700" cap="none" dirty="0">
                <a:latin typeface="+mn-lt"/>
                <a:cs typeface="Times New Roman" panose="02020603050405020304" pitchFamily="18" charset="0"/>
              </a:rPr>
              <a:t>Δοκιμή </a:t>
            </a:r>
            <a:r>
              <a:rPr lang="en-US" sz="3700" cap="none" dirty="0">
                <a:latin typeface="+mn-lt"/>
                <a:cs typeface="Times New Roman" panose="02020603050405020304" pitchFamily="18" charset="0"/>
              </a:rPr>
              <a:t>2</a:t>
            </a:r>
            <a:endParaRPr lang="el-GR" sz="37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2C62E98B-1F2C-40C8-C448-2E32059BE3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010400" y="0"/>
            <a:ext cx="5181600" cy="75958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l-GR" i="1" dirty="0"/>
              <a:t>	</a:t>
            </a:r>
            <a:r>
              <a:rPr lang="el-GR" altLang="el-GR" i="1" dirty="0"/>
              <a:t>Έγιναν δοκιμές με διαφορετικές τιμές μεταβλητών: </a:t>
            </a:r>
            <a:r>
              <a:rPr lang="en-US" altLang="el-GR" i="1" dirty="0"/>
              <a:t>alpha, epsilon, gamma.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el-GR" altLang="el-G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6C40BF-006E-EDCF-D631-5FCC1EF2DDBC}"/>
              </a:ext>
            </a:extLst>
          </p:cNvPr>
          <p:cNvSpPr txBox="1"/>
          <p:nvPr/>
        </p:nvSpPr>
        <p:spPr>
          <a:xfrm>
            <a:off x="9796076" y="2094610"/>
            <a:ext cx="2040324" cy="1308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l-GR" sz="1600" dirty="0"/>
              <a:t>Εικόνα </a:t>
            </a:r>
            <a:r>
              <a:rPr lang="en-US" sz="1600" dirty="0"/>
              <a:t>2</a:t>
            </a:r>
            <a:r>
              <a:rPr lang="el-GR" sz="1600" dirty="0"/>
              <a:t>. Δοκιμή με:</a:t>
            </a:r>
          </a:p>
          <a:p>
            <a:pPr marL="285750" indent="-285750" algn="ctr">
              <a:spcAft>
                <a:spcPts val="600"/>
              </a:spcAft>
              <a:buFontTx/>
              <a:buChar char="-"/>
            </a:pPr>
            <a:r>
              <a:rPr lang="en-US" sz="1600" dirty="0"/>
              <a:t>alpha = 0,2</a:t>
            </a:r>
          </a:p>
          <a:p>
            <a:pPr marL="285750" indent="-285750" algn="ctr">
              <a:spcAft>
                <a:spcPts val="600"/>
              </a:spcAft>
              <a:buFontTx/>
              <a:buChar char="-"/>
            </a:pPr>
            <a:r>
              <a:rPr lang="en-US" sz="1600" dirty="0"/>
              <a:t>epsilon = 0,1 </a:t>
            </a:r>
          </a:p>
          <a:p>
            <a:pPr marL="285750" indent="-285750" algn="ctr">
              <a:spcAft>
                <a:spcPts val="600"/>
              </a:spcAft>
              <a:buFontTx/>
              <a:buChar char="-"/>
            </a:pPr>
            <a:r>
              <a:rPr lang="en-US" sz="1600" dirty="0"/>
              <a:t>gamma = 0,9</a:t>
            </a:r>
            <a:endParaRPr lang="el-GR" sz="1600" dirty="0"/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E4DE7272-AE92-78EA-F267-18DC1174EC8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l-GR"/>
          </a:p>
        </p:txBody>
      </p:sp>
      <p:pic>
        <p:nvPicPr>
          <p:cNvPr id="3" name="Εικόνα 2">
            <a:extLst>
              <a:ext uri="{FF2B5EF4-FFF2-40B4-BE49-F238E27FC236}">
                <a16:creationId xmlns:a16="http://schemas.microsoft.com/office/drawing/2014/main" id="{26E3921D-D91A-3E6B-8093-E47C841DB0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599" y="1654290"/>
            <a:ext cx="8690077" cy="4599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2311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0F2ED-4DA1-6FC7-B7D3-E8EC2D283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369C038C-A3FB-305B-0B49-F9DC3AEA2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1132312" cy="118021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l-GR" sz="3700" cap="none" dirty="0">
                <a:latin typeface="+mn-lt"/>
                <a:cs typeface="Times New Roman" panose="02020603050405020304" pitchFamily="18" charset="0"/>
              </a:rPr>
              <a:t>Γραφική αναπαράσταση αποτελεσμάτων</a:t>
            </a:r>
            <a:r>
              <a:rPr lang="en-US" sz="3700" cap="none" dirty="0">
                <a:latin typeface="+mn-lt"/>
                <a:cs typeface="Times New Roman" panose="02020603050405020304" pitchFamily="18" charset="0"/>
              </a:rPr>
              <a:t> – </a:t>
            </a:r>
            <a:r>
              <a:rPr lang="el-GR" sz="3700" cap="none" dirty="0">
                <a:latin typeface="+mn-lt"/>
                <a:cs typeface="Times New Roman" panose="02020603050405020304" pitchFamily="18" charset="0"/>
              </a:rPr>
              <a:t>Δοκιμή </a:t>
            </a:r>
            <a:r>
              <a:rPr lang="en-US" sz="3700" cap="none" dirty="0">
                <a:latin typeface="+mn-lt"/>
                <a:cs typeface="Times New Roman" panose="02020603050405020304" pitchFamily="18" charset="0"/>
              </a:rPr>
              <a:t>3</a:t>
            </a:r>
            <a:endParaRPr lang="el-GR" sz="37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F7F161D4-32DC-6DBC-4753-DC4780836C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010400" y="0"/>
            <a:ext cx="5181600" cy="75958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l-GR" i="1" dirty="0"/>
              <a:t>	</a:t>
            </a:r>
            <a:r>
              <a:rPr lang="el-GR" altLang="el-GR" i="1" dirty="0"/>
              <a:t>Έγιναν δοκιμές με διαφορετικές τιμές μεταβλητών: </a:t>
            </a:r>
            <a:r>
              <a:rPr lang="en-US" altLang="el-GR" i="1" dirty="0"/>
              <a:t>alpha, epsilon, gamma.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el-GR" altLang="el-G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6EFBDF-339A-ACF7-3AB7-67E5AFC76DD0}"/>
              </a:ext>
            </a:extLst>
          </p:cNvPr>
          <p:cNvSpPr txBox="1"/>
          <p:nvPr/>
        </p:nvSpPr>
        <p:spPr>
          <a:xfrm>
            <a:off x="9796076" y="2094610"/>
            <a:ext cx="2040324" cy="1308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l-GR" sz="1600" dirty="0"/>
              <a:t>Εικόνα </a:t>
            </a:r>
            <a:r>
              <a:rPr lang="en-US" sz="1600" dirty="0"/>
              <a:t>3</a:t>
            </a:r>
            <a:r>
              <a:rPr lang="el-GR" sz="1600" dirty="0"/>
              <a:t>. Δοκιμή με:</a:t>
            </a:r>
          </a:p>
          <a:p>
            <a:pPr marL="285750" indent="-285750" algn="ctr">
              <a:spcAft>
                <a:spcPts val="600"/>
              </a:spcAft>
              <a:buFontTx/>
              <a:buChar char="-"/>
            </a:pPr>
            <a:r>
              <a:rPr lang="en-US" sz="1600" dirty="0"/>
              <a:t>alpha = 0,4</a:t>
            </a:r>
          </a:p>
          <a:p>
            <a:pPr marL="285750" indent="-285750" algn="ctr">
              <a:spcAft>
                <a:spcPts val="600"/>
              </a:spcAft>
              <a:buFontTx/>
              <a:buChar char="-"/>
            </a:pPr>
            <a:r>
              <a:rPr lang="en-US" sz="1600" dirty="0"/>
              <a:t>epsilon = 0,6 </a:t>
            </a:r>
          </a:p>
          <a:p>
            <a:pPr marL="285750" indent="-285750" algn="ctr">
              <a:spcAft>
                <a:spcPts val="600"/>
              </a:spcAft>
              <a:buFontTx/>
              <a:buChar char="-"/>
            </a:pPr>
            <a:r>
              <a:rPr lang="en-US" sz="1600" dirty="0"/>
              <a:t>gamma = 0,8</a:t>
            </a:r>
            <a:endParaRPr lang="el-GR" sz="1600" dirty="0"/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98FE0BDB-BFC1-A461-4C6F-45A93FB7412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l-GR"/>
          </a:p>
        </p:txBody>
      </p:sp>
      <p:pic>
        <p:nvPicPr>
          <p:cNvPr id="3" name="Εικόνα 2">
            <a:extLst>
              <a:ext uri="{FF2B5EF4-FFF2-40B4-BE49-F238E27FC236}">
                <a16:creationId xmlns:a16="http://schemas.microsoft.com/office/drawing/2014/main" id="{14539D87-9AB1-1DC6-AAA5-EA81464C83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" y="1665942"/>
            <a:ext cx="8553130" cy="457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3278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3A504-162D-ABA4-B943-81D6CF924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E3D9843-1247-E6C6-A212-F2A9F4907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875071"/>
          </a:xfrm>
        </p:spPr>
        <p:txBody>
          <a:bodyPr/>
          <a:lstStyle/>
          <a:p>
            <a:pPr algn="ctr"/>
            <a:r>
              <a:rPr lang="el-GR" cap="none" dirty="0">
                <a:latin typeface="+mn-lt"/>
                <a:cs typeface="Times New Roman" panose="02020603050405020304" pitchFamily="18" charset="0"/>
              </a:rPr>
              <a:t>Γιατί θεωρούμε αυτή τη λύση ολοκληρωμένη;</a:t>
            </a:r>
            <a:endParaRPr lang="el-GR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AB780A09-2D28-7E95-551D-671FCF77C45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9935" y="1942771"/>
            <a:ext cx="11169445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l-GR" altLang="el-GR" sz="2800" dirty="0"/>
              <a:t>Συνοψίζοντας: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l-GR" altLang="el-GR" sz="2800" dirty="0"/>
              <a:t>Συνδυάζει εκπαίδευση</a:t>
            </a:r>
            <a:r>
              <a:rPr lang="en-US" altLang="el-GR" sz="2800" dirty="0"/>
              <a:t>, </a:t>
            </a:r>
            <a:r>
              <a:rPr lang="el-GR" altLang="el-GR" sz="2800" dirty="0"/>
              <a:t>προσομοίωση και στατιστική ανάλυση.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l-GR" altLang="el-GR" sz="2800" dirty="0"/>
              <a:t>Παρέχει ερμηνεύσιμη πληροφόρηση (CA, Q-</a:t>
            </a:r>
            <a:r>
              <a:rPr lang="el-GR" altLang="el-GR" sz="2800" dirty="0" err="1"/>
              <a:t>values</a:t>
            </a:r>
            <a:r>
              <a:rPr lang="el-GR" altLang="el-GR" sz="2800" dirty="0"/>
              <a:t>, </a:t>
            </a:r>
            <a:r>
              <a:rPr lang="el-GR" altLang="el-GR" sz="2800" dirty="0" err="1"/>
              <a:t>φερομόνες</a:t>
            </a:r>
            <a:r>
              <a:rPr lang="el-GR" altLang="el-GR" sz="2800" dirty="0"/>
              <a:t>).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l-GR" altLang="el-GR" sz="2800" dirty="0"/>
              <a:t>Είναι οργανωμένος κώδικας (αναγνώσιμος).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l-GR" altLang="el-GR" sz="2800" dirty="0"/>
              <a:t>Επιτρέπει μελλοντική επέκταση (</a:t>
            </a:r>
            <a:r>
              <a:rPr lang="el-GR" altLang="el-GR" sz="2800" dirty="0" err="1"/>
              <a:t>multi-agent</a:t>
            </a:r>
            <a:r>
              <a:rPr lang="el-GR" altLang="el-GR" sz="2800" dirty="0"/>
              <a:t>, DQN, εμπλουτισμένοι αισθητήρες).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l-GR" altLang="el-GR" sz="2800" i="1" dirty="0"/>
              <a:t>	Ενσωματώσαμε το καλύτερο από κάθε προηγούμενη έκδοση σε ένα αρμονικό και λειτουργικό σύστημα.</a:t>
            </a:r>
            <a:endParaRPr kumimoji="0" lang="el-GR" altLang="el-GR" sz="280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52155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D5230307-9892-9B65-542F-8DC0F49A9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469" y="1632153"/>
            <a:ext cx="10596630" cy="3785421"/>
          </a:xfrm>
        </p:spPr>
        <p:txBody>
          <a:bodyPr>
            <a:normAutofit/>
          </a:bodyPr>
          <a:lstStyle/>
          <a:p>
            <a:pPr algn="ctr"/>
            <a:r>
              <a:rPr lang="el-GR" sz="9600" cap="none" dirty="0">
                <a:latin typeface="+mn-lt"/>
                <a:cs typeface="Times New Roman" panose="02020603050405020304" pitchFamily="18" charset="0"/>
              </a:rPr>
              <a:t>Σας ευχαριστούμε για τον χρόνο σας</a:t>
            </a:r>
            <a:endParaRPr lang="el-GR" sz="96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92222488"/>
      </p:ext>
    </p:extLst>
  </p:cSld>
  <p:clrMapOvr>
    <a:masterClrMapping/>
  </p:clrMapOvr>
  <p:transition spd="slow">
    <p:randomBar dir="vert"/>
  </p:transition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3800</TotalTime>
  <Words>1293</Words>
  <Application>Microsoft Office PowerPoint</Application>
  <PresentationFormat>Ευρεία οθόνη</PresentationFormat>
  <Paragraphs>173</Paragraphs>
  <Slides>17</Slides>
  <Notes>3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6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17</vt:i4>
      </vt:variant>
    </vt:vector>
  </HeadingPairs>
  <TitlesOfParts>
    <vt:vector size="24" baseType="lpstr">
      <vt:lpstr>Aptos</vt:lpstr>
      <vt:lpstr>Arial</vt:lpstr>
      <vt:lpstr>Calisto MT</vt:lpstr>
      <vt:lpstr>Times New Roman</vt:lpstr>
      <vt:lpstr>Univers Condensed</vt:lpstr>
      <vt:lpstr>Wingdings</vt:lpstr>
      <vt:lpstr>ChronicleVTI</vt:lpstr>
      <vt:lpstr>Χρήση Κυψελιδωτών Αυτομάτων Μάθησης για Πλοήγηση Ρομπότ</vt:lpstr>
      <vt:lpstr>Εισαγωγή</vt:lpstr>
      <vt:lpstr>Εφαρμογή των CA</vt:lpstr>
      <vt:lpstr>Θεωρητικό Υπόβαθρο – Q-learning</vt:lpstr>
      <vt:lpstr>Εξίσωση Bellman </vt:lpstr>
      <vt:lpstr>Κυψελιδωτό Αυτόματο;</vt:lpstr>
      <vt:lpstr>Πώς δουλεύει το σύστημα;</vt:lpstr>
      <vt:lpstr>Πρώτη προσέγγιση κώδικα final.py</vt:lpstr>
      <vt:lpstr>Δεύτερη προσέγγιση κώδικα final_livelearn.py</vt:lpstr>
      <vt:lpstr>Τελικός κώδικας: Κυψελιδωτό αυτόματο.py</vt:lpstr>
      <vt:lpstr>Ανταμοιβές &amp; Παράμετροι Μάθησης</vt:lpstr>
      <vt:lpstr>Visual Interface &amp; Ανάλυση</vt:lpstr>
      <vt:lpstr>Γραφική αναπαράσταση αποτελεσμάτων – Δοκιμή 1</vt:lpstr>
      <vt:lpstr>Γραφική αναπαράσταση αποτελεσμάτων – Δοκιμή 2</vt:lpstr>
      <vt:lpstr>Γραφική αναπαράσταση αποτελεσμάτων – Δοκιμή 3</vt:lpstr>
      <vt:lpstr>Γιατί θεωρούμε αυτή τη λύση ολοκληρωμένη;</vt:lpstr>
      <vt:lpstr>Σας ευχαριστούμε για τον χρόνο σας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Δημητριος Λιλλης</dc:creator>
  <cp:lastModifiedBy>Δημητριος Λιλλης</cp:lastModifiedBy>
  <cp:revision>7</cp:revision>
  <dcterms:created xsi:type="dcterms:W3CDTF">2025-06-24T19:15:53Z</dcterms:created>
  <dcterms:modified xsi:type="dcterms:W3CDTF">2025-06-27T10:36:48Z</dcterms:modified>
</cp:coreProperties>
</file>